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5.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6.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7.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8.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30" r:id="rId1"/>
  </p:sldMasterIdLst>
  <p:notesMasterIdLst>
    <p:notesMasterId r:id="rId10"/>
  </p:notesMasterIdLst>
  <p:sldIdLst>
    <p:sldId id="256" r:id="rId2"/>
    <p:sldId id="259" r:id="rId3"/>
    <p:sldId id="258" r:id="rId4"/>
    <p:sldId id="257" r:id="rId5"/>
    <p:sldId id="260" r:id="rId6"/>
    <p:sldId id="261" r:id="rId7"/>
    <p:sldId id="262" r:id="rId8"/>
    <p:sldId id="263" r:id="rId9"/>
  </p:sldIdLst>
  <p:sldSz cx="9144000" cy="5143500" type="screen16x9"/>
  <p:notesSz cx="6858000" cy="9144000"/>
  <p:embeddedFontLst>
    <p:embeddedFont>
      <p:font typeface="Montserrat" pitchFamily="2" charset="77"/>
      <p:regular r:id="rId11"/>
      <p:bold r:id="rId12"/>
      <p:italic r:id="rId13"/>
      <p:boldItalic r:id="rId14"/>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77">
          <p15:clr>
            <a:srgbClr val="A4A3A4"/>
          </p15:clr>
        </p15:guide>
        <p15:guide id="2" pos="2721">
          <p15:clr>
            <a:srgbClr val="A4A3A4"/>
          </p15:clr>
        </p15:guide>
        <p15:guide id="3" pos="2438">
          <p15:clr>
            <a:srgbClr val="9AA0A6"/>
          </p15:clr>
        </p15:guide>
        <p15:guide id="4" pos="416">
          <p15:clr>
            <a:srgbClr val="9AA0A6"/>
          </p15:clr>
        </p15:guide>
        <p15:guide id="5" pos="1191">
          <p15:clr>
            <a:srgbClr val="9AA0A6"/>
          </p15:clr>
        </p15:guide>
        <p15:guide id="6" pos="638">
          <p15:clr>
            <a:srgbClr val="9AA0A6"/>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 roundtripDataSignature="AMtx7mgrzrqtyc6NFMljW0vJjHtN/3s2l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8B276D6-7DA8-486D-9897-4FA2B4CCD1D1}">
  <a:tblStyle styleId="{D8B276D6-7DA8-486D-9897-4FA2B4CCD1D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672"/>
  </p:normalViewPr>
  <p:slideViewPr>
    <p:cSldViewPr snapToGrid="0">
      <p:cViewPr varScale="1">
        <p:scale>
          <a:sx n="132" d="100"/>
          <a:sy n="132" d="100"/>
        </p:scale>
        <p:origin x="504" y="168"/>
      </p:cViewPr>
      <p:guideLst>
        <p:guide orient="horz" pos="1077"/>
        <p:guide pos="2721"/>
        <p:guide pos="2438"/>
        <p:guide pos="416"/>
        <p:guide pos="1191"/>
        <p:guide pos="63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23" Type="http://schemas.openxmlformats.org/officeDocument/2006/relationships/tableStyles" Target="tableStyles.xml"/><Relationship Id="rId10" Type="http://schemas.openxmlformats.org/officeDocument/2006/relationships/notesMaster" Target="notesMasters/notesMaster1.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Users/karroumi/Downloads/Donne&#769;es+entrepo&#770;t+BestOfFresh%20(5).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karroumi/Downloads/Donne&#769;es+entrepo&#770;t+BestOfFresh%20(5).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karroumi/Downloads/Donne&#769;es+entrepo&#770;t+BestOfFresh%20(5).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Users/karroumi/Downloads/finale.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Users/karroumi/Desktop/Supplychain_Analyst/Projet2/Projet-2.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Users/karroumi/Desktop/Supplychain_Analyst/Projet2/Projet-2.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Users/karroumi/Desktop/manale.xlsx"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pivotSource>
    <c:name>[Données+entrepôt+BestOfFresh (5).xlsx]Graphique-EXP!Tableau croisé dynamique1</c:name>
    <c:fmtId val="15"/>
  </c:pivotSource>
  <c:chart>
    <c:title>
      <c:tx>
        <c:rich>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fr-FR" sz="1200"/>
              <a:t>Stock moyen (UVC) — Évolution mensuelle</a:t>
            </a:r>
            <a:endParaRPr lang="en-US" sz="1200"/>
          </a:p>
        </c:rich>
      </c:tx>
      <c:layout>
        <c:manualLayout>
          <c:xMode val="edge"/>
          <c:yMode val="edge"/>
          <c:x val="0.15909733158355205"/>
          <c:y val="6.762991910413084E-2"/>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fr-FR"/>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2297287839020123"/>
          <c:y val="0.16559633027522935"/>
          <c:w val="0.87369991251093615"/>
          <c:h val="0.7001332803583038"/>
        </c:manualLayout>
      </c:layout>
      <c:barChart>
        <c:barDir val="col"/>
        <c:grouping val="clustered"/>
        <c:varyColors val="0"/>
        <c:ser>
          <c:idx val="0"/>
          <c:order val="0"/>
          <c:tx>
            <c:strRef>
              <c:f>'Graphique-EXP'!$B$3</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'Graphique-EXP'!$A$4:$A$12</c:f>
              <c:strCache>
                <c:ptCount val="8"/>
                <c:pt idx="0">
                  <c:v>202205</c:v>
                </c:pt>
                <c:pt idx="1">
                  <c:v>202206</c:v>
                </c:pt>
                <c:pt idx="2">
                  <c:v>202207</c:v>
                </c:pt>
                <c:pt idx="3">
                  <c:v>202208</c:v>
                </c:pt>
                <c:pt idx="4">
                  <c:v>202209</c:v>
                </c:pt>
                <c:pt idx="5">
                  <c:v>202210</c:v>
                </c:pt>
                <c:pt idx="6">
                  <c:v>202211</c:v>
                </c:pt>
                <c:pt idx="7">
                  <c:v>202212</c:v>
                </c:pt>
              </c:strCache>
            </c:strRef>
          </c:cat>
          <c:val>
            <c:numRef>
              <c:f>'Graphique-EXP'!$B$4:$B$12</c:f>
              <c:numCache>
                <c:formatCode>General</c:formatCode>
                <c:ptCount val="8"/>
                <c:pt idx="0">
                  <c:v>207364</c:v>
                </c:pt>
                <c:pt idx="1">
                  <c:v>351521</c:v>
                </c:pt>
                <c:pt idx="2">
                  <c:v>284421</c:v>
                </c:pt>
                <c:pt idx="3">
                  <c:v>280572</c:v>
                </c:pt>
                <c:pt idx="4">
                  <c:v>246851</c:v>
                </c:pt>
                <c:pt idx="5">
                  <c:v>245160</c:v>
                </c:pt>
                <c:pt idx="6">
                  <c:v>401047</c:v>
                </c:pt>
                <c:pt idx="7">
                  <c:v>407052</c:v>
                </c:pt>
              </c:numCache>
            </c:numRef>
          </c:val>
          <c:extLst>
            <c:ext xmlns:c16="http://schemas.microsoft.com/office/drawing/2014/chart" uri="{C3380CC4-5D6E-409C-BE32-E72D297353CC}">
              <c16:uniqueId val="{00000000-30D0-404A-B37D-71E5BE3CCFE0}"/>
            </c:ext>
          </c:extLst>
        </c:ser>
        <c:dLbls>
          <c:dLblPos val="outEnd"/>
          <c:showLegendKey val="0"/>
          <c:showVal val="1"/>
          <c:showCatName val="0"/>
          <c:showSerName val="0"/>
          <c:showPercent val="0"/>
          <c:showBubbleSize val="0"/>
        </c:dLbls>
        <c:gapWidth val="100"/>
        <c:overlap val="-24"/>
        <c:axId val="1671059376"/>
        <c:axId val="1671212576"/>
      </c:barChart>
      <c:catAx>
        <c:axId val="1671059376"/>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671212576"/>
        <c:crosses val="autoZero"/>
        <c:auto val="1"/>
        <c:lblAlgn val="ctr"/>
        <c:lblOffset val="100"/>
        <c:noMultiLvlLbl val="0"/>
      </c:catAx>
      <c:valAx>
        <c:axId val="16712125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67105937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pivotSource>
    <c:name>[Données+entrepôt+BestOfFresh (5).xlsx]Prix_Moyen!Tableau croisé dynamique10</c:name>
    <c:fmtId val="9"/>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fr-FR" b="1" dirty="0"/>
              <a:t>Évolution mensuelle du prix moyen UVC (filtrable)</a:t>
            </a:r>
            <a:endParaRPr lang="en-US" b="1" dirty="0"/>
          </a:p>
        </c:rich>
      </c:tx>
      <c:layout>
        <c:manualLayout>
          <c:xMode val="edge"/>
          <c:yMode val="edge"/>
          <c:x val="0.18228070175438602"/>
          <c:y val="4.9195127204844077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fr-FR"/>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Prix_Moyen!$B$3</c:f>
              <c:strCache>
                <c:ptCount val="1"/>
                <c:pt idx="0">
                  <c:v>Total</c:v>
                </c:pt>
              </c:strCache>
            </c:strRef>
          </c:tx>
          <c:spPr>
            <a:ln w="28575" cap="rnd">
              <a:solidFill>
                <a:schemeClr val="accent1"/>
              </a:solidFill>
              <a:round/>
            </a:ln>
            <a:effectLst/>
          </c:spPr>
          <c:marker>
            <c:symbol val="none"/>
          </c:marker>
          <c:cat>
            <c:strRef>
              <c:f>Prix_Moyen!$A$4:$A$13</c:f>
              <c:strCache>
                <c:ptCount val="9"/>
                <c:pt idx="0">
                  <c:v>202205</c:v>
                </c:pt>
                <c:pt idx="1">
                  <c:v>202206</c:v>
                </c:pt>
                <c:pt idx="2">
                  <c:v>202207</c:v>
                </c:pt>
                <c:pt idx="3">
                  <c:v>202208</c:v>
                </c:pt>
                <c:pt idx="4">
                  <c:v>202209</c:v>
                </c:pt>
                <c:pt idx="5">
                  <c:v>202210</c:v>
                </c:pt>
                <c:pt idx="6">
                  <c:v>202211</c:v>
                </c:pt>
                <c:pt idx="7">
                  <c:v>202212</c:v>
                </c:pt>
                <c:pt idx="8">
                  <c:v>202301</c:v>
                </c:pt>
              </c:strCache>
            </c:strRef>
          </c:cat>
          <c:val>
            <c:numRef>
              <c:f>Prix_Moyen!$B$4:$B$13</c:f>
              <c:numCache>
                <c:formatCode>General</c:formatCode>
                <c:ptCount val="9"/>
                <c:pt idx="0">
                  <c:v>30.180062490780902</c:v>
                </c:pt>
                <c:pt idx="1">
                  <c:v>29.435906942591377</c:v>
                </c:pt>
                <c:pt idx="2">
                  <c:v>30.109033907209284</c:v>
                </c:pt>
                <c:pt idx="3">
                  <c:v>25.077206167744201</c:v>
                </c:pt>
                <c:pt idx="4">
                  <c:v>25.42556865822516</c:v>
                </c:pt>
                <c:pt idx="5">
                  <c:v>24.940123602283979</c:v>
                </c:pt>
                <c:pt idx="6">
                  <c:v>26.219492579549527</c:v>
                </c:pt>
                <c:pt idx="7">
                  <c:v>26.658604488125064</c:v>
                </c:pt>
                <c:pt idx="8">
                  <c:v>27.331815022011927</c:v>
                </c:pt>
              </c:numCache>
            </c:numRef>
          </c:val>
          <c:smooth val="0"/>
          <c:extLst>
            <c:ext xmlns:c16="http://schemas.microsoft.com/office/drawing/2014/chart" uri="{C3380CC4-5D6E-409C-BE32-E72D297353CC}">
              <c16:uniqueId val="{00000000-4DBA-944C-B191-6E2C07304290}"/>
            </c:ext>
          </c:extLst>
        </c:ser>
        <c:dLbls>
          <c:showLegendKey val="0"/>
          <c:showVal val="0"/>
          <c:showCatName val="0"/>
          <c:showSerName val="0"/>
          <c:showPercent val="0"/>
          <c:showBubbleSize val="0"/>
        </c:dLbls>
        <c:smooth val="0"/>
        <c:axId val="751272384"/>
        <c:axId val="767430336"/>
      </c:lineChart>
      <c:catAx>
        <c:axId val="751272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767430336"/>
        <c:crosses val="autoZero"/>
        <c:auto val="1"/>
        <c:lblAlgn val="ctr"/>
        <c:lblOffset val="100"/>
        <c:noMultiLvlLbl val="0"/>
      </c:catAx>
      <c:valAx>
        <c:axId val="767430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75127238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pivotSource>
    <c:name>[Données+entrepôt+BestOfFresh (5).xlsx]Feuil2!Tableau croisé dynamique15</c:name>
    <c:fmtId val="5"/>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fr-FR"/>
              <a:t>Références stockées</a:t>
            </a:r>
            <a:endParaRPr lang="en-US"/>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fr-FR"/>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Feuil2!$B$3</c:f>
              <c:strCache>
                <c:ptCount val="1"/>
                <c:pt idx="0">
                  <c:v>Total</c:v>
                </c:pt>
              </c:strCache>
            </c:strRef>
          </c:tx>
          <c:spPr>
            <a:ln w="28575" cap="rnd">
              <a:solidFill>
                <a:schemeClr val="accent1"/>
              </a:solidFill>
              <a:round/>
            </a:ln>
            <a:effectLst/>
          </c:spPr>
          <c:marker>
            <c:symbol val="none"/>
          </c:marker>
          <c:cat>
            <c:strRef>
              <c:f>Feuil2!$A$4:$A$13</c:f>
              <c:strCache>
                <c:ptCount val="9"/>
                <c:pt idx="0">
                  <c:v>202205</c:v>
                </c:pt>
                <c:pt idx="1">
                  <c:v>202206</c:v>
                </c:pt>
                <c:pt idx="2">
                  <c:v>202207</c:v>
                </c:pt>
                <c:pt idx="3">
                  <c:v>202208</c:v>
                </c:pt>
                <c:pt idx="4">
                  <c:v>202209</c:v>
                </c:pt>
                <c:pt idx="5">
                  <c:v>202210</c:v>
                </c:pt>
                <c:pt idx="6">
                  <c:v>202211</c:v>
                </c:pt>
                <c:pt idx="7">
                  <c:v>202212</c:v>
                </c:pt>
                <c:pt idx="8">
                  <c:v>202301</c:v>
                </c:pt>
              </c:strCache>
            </c:strRef>
          </c:cat>
          <c:val>
            <c:numRef>
              <c:f>Feuil2!$B$4:$B$13</c:f>
              <c:numCache>
                <c:formatCode>General</c:formatCode>
                <c:ptCount val="9"/>
                <c:pt idx="0">
                  <c:v>107</c:v>
                </c:pt>
                <c:pt idx="1">
                  <c:v>104</c:v>
                </c:pt>
                <c:pt idx="2">
                  <c:v>103</c:v>
                </c:pt>
                <c:pt idx="3">
                  <c:v>98</c:v>
                </c:pt>
                <c:pt idx="4">
                  <c:v>105</c:v>
                </c:pt>
                <c:pt idx="5">
                  <c:v>105</c:v>
                </c:pt>
                <c:pt idx="6">
                  <c:v>106</c:v>
                </c:pt>
                <c:pt idx="7">
                  <c:v>101</c:v>
                </c:pt>
                <c:pt idx="8">
                  <c:v>99</c:v>
                </c:pt>
              </c:numCache>
            </c:numRef>
          </c:val>
          <c:smooth val="0"/>
          <c:extLst>
            <c:ext xmlns:c16="http://schemas.microsoft.com/office/drawing/2014/chart" uri="{C3380CC4-5D6E-409C-BE32-E72D297353CC}">
              <c16:uniqueId val="{00000000-3486-4A43-BAA2-80A5E7EAE026}"/>
            </c:ext>
          </c:extLst>
        </c:ser>
        <c:dLbls>
          <c:showLegendKey val="0"/>
          <c:showVal val="0"/>
          <c:showCatName val="0"/>
          <c:showSerName val="0"/>
          <c:showPercent val="0"/>
          <c:showBubbleSize val="0"/>
        </c:dLbls>
        <c:smooth val="0"/>
        <c:axId val="1088221503"/>
        <c:axId val="1088223215"/>
      </c:lineChart>
      <c:catAx>
        <c:axId val="1088221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1088223215"/>
        <c:crosses val="autoZero"/>
        <c:auto val="1"/>
        <c:lblAlgn val="ctr"/>
        <c:lblOffset val="100"/>
        <c:noMultiLvlLbl val="0"/>
      </c:catAx>
      <c:valAx>
        <c:axId val="108822321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108822150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pivotSource>
    <c:name>[finale.xlsx]TCDexp-recep!Tableau croisé dynamique11</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600" b="1" dirty="0"/>
              <a:t>Combo Quantité réceptionnée/Expédiée</a:t>
            </a:r>
          </a:p>
        </c:rich>
      </c:tx>
      <c:layout>
        <c:manualLayout>
          <c:xMode val="edge"/>
          <c:yMode val="edge"/>
          <c:x val="0.2169563391287602"/>
          <c:y val="3.5512634668384696E-3"/>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4528227398341886"/>
          <c:y val="0.10565428254411396"/>
          <c:w val="0.60033479709267112"/>
          <c:h val="0.79549295774647888"/>
        </c:manualLayout>
      </c:layout>
      <c:barChart>
        <c:barDir val="col"/>
        <c:grouping val="clustered"/>
        <c:varyColors val="0"/>
        <c:ser>
          <c:idx val="0"/>
          <c:order val="0"/>
          <c:tx>
            <c:strRef>
              <c:f>'TCDexp-recep'!$B$3</c:f>
              <c:strCache>
                <c:ptCount val="1"/>
                <c:pt idx="0">
                  <c:v>Somme de Qte receptionee</c:v>
                </c:pt>
              </c:strCache>
            </c:strRef>
          </c:tx>
          <c:spPr>
            <a:solidFill>
              <a:schemeClr val="accent1"/>
            </a:solidFill>
            <a:ln>
              <a:noFill/>
            </a:ln>
            <a:effectLst/>
          </c:spPr>
          <c:invertIfNegative val="0"/>
          <c:cat>
            <c:strRef>
              <c:f>'TCDexp-recep'!$A$4:$A$12</c:f>
              <c:strCache>
                <c:ptCount val="8"/>
                <c:pt idx="0">
                  <c:v>202205</c:v>
                </c:pt>
                <c:pt idx="1">
                  <c:v>202206</c:v>
                </c:pt>
                <c:pt idx="2">
                  <c:v>202207</c:v>
                </c:pt>
                <c:pt idx="3">
                  <c:v>202208</c:v>
                </c:pt>
                <c:pt idx="4">
                  <c:v>202209</c:v>
                </c:pt>
                <c:pt idx="5">
                  <c:v>202210</c:v>
                </c:pt>
                <c:pt idx="6">
                  <c:v>202211</c:v>
                </c:pt>
                <c:pt idx="7">
                  <c:v>202212</c:v>
                </c:pt>
              </c:strCache>
            </c:strRef>
          </c:cat>
          <c:val>
            <c:numRef>
              <c:f>'TCDexp-recep'!$B$4:$B$12</c:f>
              <c:numCache>
                <c:formatCode>General</c:formatCode>
                <c:ptCount val="8"/>
                <c:pt idx="0">
                  <c:v>682402</c:v>
                </c:pt>
                <c:pt idx="1">
                  <c:v>642686</c:v>
                </c:pt>
                <c:pt idx="2">
                  <c:v>373895</c:v>
                </c:pt>
                <c:pt idx="3">
                  <c:v>508099</c:v>
                </c:pt>
                <c:pt idx="4">
                  <c:v>685728</c:v>
                </c:pt>
                <c:pt idx="5">
                  <c:v>898975</c:v>
                </c:pt>
                <c:pt idx="6">
                  <c:v>788633</c:v>
                </c:pt>
                <c:pt idx="7">
                  <c:v>819616</c:v>
                </c:pt>
              </c:numCache>
            </c:numRef>
          </c:val>
          <c:extLst>
            <c:ext xmlns:c16="http://schemas.microsoft.com/office/drawing/2014/chart" uri="{C3380CC4-5D6E-409C-BE32-E72D297353CC}">
              <c16:uniqueId val="{00000000-BA22-F949-8999-159ED0CAE025}"/>
            </c:ext>
          </c:extLst>
        </c:ser>
        <c:dLbls>
          <c:showLegendKey val="0"/>
          <c:showVal val="0"/>
          <c:showCatName val="0"/>
          <c:showSerName val="0"/>
          <c:showPercent val="0"/>
          <c:showBubbleSize val="0"/>
        </c:dLbls>
        <c:gapWidth val="219"/>
        <c:overlap val="-27"/>
        <c:axId val="730418639"/>
        <c:axId val="730635183"/>
      </c:barChart>
      <c:lineChart>
        <c:grouping val="standard"/>
        <c:varyColors val="0"/>
        <c:ser>
          <c:idx val="1"/>
          <c:order val="1"/>
          <c:tx>
            <c:strRef>
              <c:f>'TCDexp-recep'!$C$3</c:f>
              <c:strCache>
                <c:ptCount val="1"/>
                <c:pt idx="0">
                  <c:v>Somme de Qte expédiée</c:v>
                </c:pt>
              </c:strCache>
            </c:strRef>
          </c:tx>
          <c:spPr>
            <a:ln w="28575" cap="rnd">
              <a:solidFill>
                <a:schemeClr val="accent2"/>
              </a:solidFill>
              <a:round/>
            </a:ln>
            <a:effectLst/>
          </c:spPr>
          <c:marker>
            <c:symbol val="none"/>
          </c:marker>
          <c:cat>
            <c:strRef>
              <c:f>'TCDexp-recep'!$A$4:$A$12</c:f>
              <c:strCache>
                <c:ptCount val="8"/>
                <c:pt idx="0">
                  <c:v>202205</c:v>
                </c:pt>
                <c:pt idx="1">
                  <c:v>202206</c:v>
                </c:pt>
                <c:pt idx="2">
                  <c:v>202207</c:v>
                </c:pt>
                <c:pt idx="3">
                  <c:v>202208</c:v>
                </c:pt>
                <c:pt idx="4">
                  <c:v>202209</c:v>
                </c:pt>
                <c:pt idx="5">
                  <c:v>202210</c:v>
                </c:pt>
                <c:pt idx="6">
                  <c:v>202211</c:v>
                </c:pt>
                <c:pt idx="7">
                  <c:v>202212</c:v>
                </c:pt>
              </c:strCache>
            </c:strRef>
          </c:cat>
          <c:val>
            <c:numRef>
              <c:f>'TCDexp-recep'!$C$4:$C$12</c:f>
              <c:numCache>
                <c:formatCode>General</c:formatCode>
                <c:ptCount val="8"/>
                <c:pt idx="0">
                  <c:v>630493</c:v>
                </c:pt>
                <c:pt idx="1">
                  <c:v>867493</c:v>
                </c:pt>
                <c:pt idx="2">
                  <c:v>377436</c:v>
                </c:pt>
                <c:pt idx="3">
                  <c:v>503449</c:v>
                </c:pt>
                <c:pt idx="4">
                  <c:v>711535</c:v>
                </c:pt>
                <c:pt idx="5">
                  <c:v>812164</c:v>
                </c:pt>
                <c:pt idx="6">
                  <c:v>796795</c:v>
                </c:pt>
                <c:pt idx="7">
                  <c:v>801462</c:v>
                </c:pt>
              </c:numCache>
            </c:numRef>
          </c:val>
          <c:smooth val="0"/>
          <c:extLst>
            <c:ext xmlns:c16="http://schemas.microsoft.com/office/drawing/2014/chart" uri="{C3380CC4-5D6E-409C-BE32-E72D297353CC}">
              <c16:uniqueId val="{00000001-BA22-F949-8999-159ED0CAE025}"/>
            </c:ext>
          </c:extLst>
        </c:ser>
        <c:dLbls>
          <c:showLegendKey val="0"/>
          <c:showVal val="0"/>
          <c:showCatName val="0"/>
          <c:showSerName val="0"/>
          <c:showPercent val="0"/>
          <c:showBubbleSize val="0"/>
        </c:dLbls>
        <c:marker val="1"/>
        <c:smooth val="0"/>
        <c:axId val="730418639"/>
        <c:axId val="730635183"/>
      </c:lineChart>
      <c:catAx>
        <c:axId val="7304186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730635183"/>
        <c:crosses val="autoZero"/>
        <c:auto val="1"/>
        <c:lblAlgn val="ctr"/>
        <c:lblOffset val="100"/>
        <c:noMultiLvlLbl val="0"/>
      </c:catAx>
      <c:valAx>
        <c:axId val="73063518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730418639"/>
        <c:crosses val="autoZero"/>
        <c:crossBetween val="between"/>
      </c:valAx>
      <c:spPr>
        <a:noFill/>
        <a:ln>
          <a:noFill/>
        </a:ln>
        <a:effectLst/>
      </c:spPr>
    </c:plotArea>
    <c:legend>
      <c:legendPos val="r"/>
      <c:layout>
        <c:manualLayout>
          <c:xMode val="edge"/>
          <c:yMode val="edge"/>
          <c:x val="0.70853725015142333"/>
          <c:y val="0.36669974743723072"/>
          <c:w val="0.27992428831011507"/>
          <c:h val="0.1949020947853216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pivotSource>
    <c:name>[Projet-2.xlsx]TCD-Nombre-commande!Tableau croisé dynamique1</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solidFill>
                  <a:schemeClr val="tx1"/>
                </a:solidFill>
              </a:rPr>
              <a:t>Nombre</a:t>
            </a:r>
            <a:r>
              <a:rPr lang="en-US" b="1" baseline="0">
                <a:solidFill>
                  <a:schemeClr val="tx1"/>
                </a:solidFill>
              </a:rPr>
              <a:t> de commandes réceptionnées par mois</a:t>
            </a:r>
            <a:endParaRPr lang="en-US" b="1">
              <a:solidFill>
                <a:schemeClr val="tx1"/>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'TCD-Nombre-commande'!$B$3</c:f>
              <c:strCache>
                <c:ptCount val="1"/>
                <c:pt idx="0">
                  <c:v>Total</c:v>
                </c:pt>
              </c:strCache>
            </c:strRef>
          </c:tx>
          <c:spPr>
            <a:solidFill>
              <a:schemeClr val="accent1"/>
            </a:solidFill>
            <a:ln>
              <a:noFill/>
            </a:ln>
            <a:effectLst/>
          </c:spPr>
          <c:invertIfNegative val="0"/>
          <c:cat>
            <c:strRef>
              <c:f>'TCD-Nombre-commande'!$A$4:$A$13</c:f>
              <c:strCache>
                <c:ptCount val="9"/>
                <c:pt idx="0">
                  <c:v>202205</c:v>
                </c:pt>
                <c:pt idx="1">
                  <c:v>202206</c:v>
                </c:pt>
                <c:pt idx="2">
                  <c:v>202207</c:v>
                </c:pt>
                <c:pt idx="3">
                  <c:v>202208</c:v>
                </c:pt>
                <c:pt idx="4">
                  <c:v>202209</c:v>
                </c:pt>
                <c:pt idx="5">
                  <c:v>202210</c:v>
                </c:pt>
                <c:pt idx="6">
                  <c:v>202211</c:v>
                </c:pt>
                <c:pt idx="7">
                  <c:v>202212</c:v>
                </c:pt>
                <c:pt idx="8">
                  <c:v>202301</c:v>
                </c:pt>
              </c:strCache>
            </c:strRef>
          </c:cat>
          <c:val>
            <c:numRef>
              <c:f>'TCD-Nombre-commande'!$B$4:$B$13</c:f>
              <c:numCache>
                <c:formatCode>General</c:formatCode>
                <c:ptCount val="9"/>
                <c:pt idx="0">
                  <c:v>118</c:v>
                </c:pt>
                <c:pt idx="1">
                  <c:v>96</c:v>
                </c:pt>
                <c:pt idx="2">
                  <c:v>79</c:v>
                </c:pt>
                <c:pt idx="3">
                  <c:v>104</c:v>
                </c:pt>
                <c:pt idx="4">
                  <c:v>114</c:v>
                </c:pt>
                <c:pt idx="5">
                  <c:v>130</c:v>
                </c:pt>
                <c:pt idx="6">
                  <c:v>104</c:v>
                </c:pt>
                <c:pt idx="7">
                  <c:v>125</c:v>
                </c:pt>
                <c:pt idx="8">
                  <c:v>101</c:v>
                </c:pt>
              </c:numCache>
            </c:numRef>
          </c:val>
          <c:extLst>
            <c:ext xmlns:c16="http://schemas.microsoft.com/office/drawing/2014/chart" uri="{C3380CC4-5D6E-409C-BE32-E72D297353CC}">
              <c16:uniqueId val="{00000000-8518-C146-9EA1-2BDE770EC680}"/>
            </c:ext>
          </c:extLst>
        </c:ser>
        <c:dLbls>
          <c:showLegendKey val="0"/>
          <c:showVal val="0"/>
          <c:showCatName val="0"/>
          <c:showSerName val="0"/>
          <c:showPercent val="0"/>
          <c:showBubbleSize val="0"/>
        </c:dLbls>
        <c:gapWidth val="219"/>
        <c:overlap val="-27"/>
        <c:axId val="1680459104"/>
        <c:axId val="1680461616"/>
      </c:barChart>
      <c:catAx>
        <c:axId val="16804591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680461616"/>
        <c:crosses val="autoZero"/>
        <c:auto val="1"/>
        <c:lblAlgn val="ctr"/>
        <c:lblOffset val="100"/>
        <c:noMultiLvlLbl val="0"/>
      </c:catAx>
      <c:valAx>
        <c:axId val="16804616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68045910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pivotSource>
    <c:name>[Projet-2.xlsx]Taux de service des commandes!Tableau croisé dynamique9</c:name>
    <c:fmtId val="1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b="1" dirty="0"/>
              <a:t>Taux</a:t>
            </a:r>
            <a:r>
              <a:rPr lang="fr-FR" b="1" baseline="0" dirty="0"/>
              <a:t> de service des commandes</a:t>
            </a:r>
            <a:endParaRPr lang="fr-FR" b="1" dirty="0"/>
          </a:p>
        </c:rich>
      </c:tx>
      <c:layout>
        <c:manualLayout>
          <c:xMode val="edge"/>
          <c:yMode val="edge"/>
          <c:x val="0.19735293278557575"/>
          <c:y val="0"/>
        </c:manualLayout>
      </c:layout>
      <c:overlay val="1"/>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1"/>
          <c:order val="1"/>
          <c:tx>
            <c:strRef>
              <c:f>'Taux de service des commandes'!$C$3</c:f>
              <c:strCache>
                <c:ptCount val="1"/>
                <c:pt idx="0">
                  <c:v>Somme de quantité réceptionnée</c:v>
                </c:pt>
              </c:strCache>
            </c:strRef>
          </c:tx>
          <c:spPr>
            <a:solidFill>
              <a:schemeClr val="accent2"/>
            </a:solidFill>
            <a:ln>
              <a:noFill/>
            </a:ln>
            <a:effectLst/>
          </c:spPr>
          <c:invertIfNegative val="0"/>
          <c:cat>
            <c:strRef>
              <c:f>'Taux de service des commandes'!$A$4:$A$13</c:f>
              <c:strCache>
                <c:ptCount val="9"/>
                <c:pt idx="0">
                  <c:v>202205</c:v>
                </c:pt>
                <c:pt idx="1">
                  <c:v>202206</c:v>
                </c:pt>
                <c:pt idx="2">
                  <c:v>202207</c:v>
                </c:pt>
                <c:pt idx="3">
                  <c:v>202208</c:v>
                </c:pt>
                <c:pt idx="4">
                  <c:v>202209</c:v>
                </c:pt>
                <c:pt idx="5">
                  <c:v>202210</c:v>
                </c:pt>
                <c:pt idx="6">
                  <c:v>202211</c:v>
                </c:pt>
                <c:pt idx="7">
                  <c:v>202212</c:v>
                </c:pt>
                <c:pt idx="8">
                  <c:v>202301</c:v>
                </c:pt>
              </c:strCache>
            </c:strRef>
          </c:cat>
          <c:val>
            <c:numRef>
              <c:f>'Taux de service des commandes'!$C$4:$C$13</c:f>
              <c:numCache>
                <c:formatCode>General</c:formatCode>
                <c:ptCount val="9"/>
                <c:pt idx="0">
                  <c:v>682402</c:v>
                </c:pt>
                <c:pt idx="1">
                  <c:v>642686</c:v>
                </c:pt>
                <c:pt idx="2">
                  <c:v>373895</c:v>
                </c:pt>
                <c:pt idx="3">
                  <c:v>508099</c:v>
                </c:pt>
                <c:pt idx="4">
                  <c:v>685728</c:v>
                </c:pt>
                <c:pt idx="5">
                  <c:v>898975</c:v>
                </c:pt>
                <c:pt idx="6">
                  <c:v>788633</c:v>
                </c:pt>
                <c:pt idx="7">
                  <c:v>819616</c:v>
                </c:pt>
                <c:pt idx="8">
                  <c:v>697323</c:v>
                </c:pt>
              </c:numCache>
            </c:numRef>
          </c:val>
          <c:extLst>
            <c:ext xmlns:c16="http://schemas.microsoft.com/office/drawing/2014/chart" uri="{C3380CC4-5D6E-409C-BE32-E72D297353CC}">
              <c16:uniqueId val="{00000000-48F2-FE45-8DCC-36D581C632DF}"/>
            </c:ext>
          </c:extLst>
        </c:ser>
        <c:dLbls>
          <c:showLegendKey val="0"/>
          <c:showVal val="0"/>
          <c:showCatName val="0"/>
          <c:showSerName val="0"/>
          <c:showPercent val="0"/>
          <c:showBubbleSize val="0"/>
        </c:dLbls>
        <c:gapWidth val="219"/>
        <c:overlap val="-27"/>
        <c:axId val="1128774432"/>
        <c:axId val="1128735856"/>
      </c:barChart>
      <c:lineChart>
        <c:grouping val="standard"/>
        <c:varyColors val="0"/>
        <c:ser>
          <c:idx val="0"/>
          <c:order val="0"/>
          <c:tx>
            <c:strRef>
              <c:f>'Taux de service des commandes'!$B$3</c:f>
              <c:strCache>
                <c:ptCount val="1"/>
                <c:pt idx="0">
                  <c:v>Somme de Quantité Commandées</c:v>
                </c:pt>
              </c:strCache>
            </c:strRef>
          </c:tx>
          <c:spPr>
            <a:ln w="28575" cap="rnd">
              <a:solidFill>
                <a:schemeClr val="accent1"/>
              </a:solidFill>
              <a:round/>
            </a:ln>
            <a:effectLst/>
          </c:spPr>
          <c:marker>
            <c:symbol val="none"/>
          </c:marker>
          <c:cat>
            <c:strRef>
              <c:f>'Taux de service des commandes'!$A$4:$A$13</c:f>
              <c:strCache>
                <c:ptCount val="9"/>
                <c:pt idx="0">
                  <c:v>202205</c:v>
                </c:pt>
                <c:pt idx="1">
                  <c:v>202206</c:v>
                </c:pt>
                <c:pt idx="2">
                  <c:v>202207</c:v>
                </c:pt>
                <c:pt idx="3">
                  <c:v>202208</c:v>
                </c:pt>
                <c:pt idx="4">
                  <c:v>202209</c:v>
                </c:pt>
                <c:pt idx="5">
                  <c:v>202210</c:v>
                </c:pt>
                <c:pt idx="6">
                  <c:v>202211</c:v>
                </c:pt>
                <c:pt idx="7">
                  <c:v>202212</c:v>
                </c:pt>
                <c:pt idx="8">
                  <c:v>202301</c:v>
                </c:pt>
              </c:strCache>
            </c:strRef>
          </c:cat>
          <c:val>
            <c:numRef>
              <c:f>'Taux de service des commandes'!$B$4:$B$13</c:f>
              <c:numCache>
                <c:formatCode>General</c:formatCode>
                <c:ptCount val="9"/>
                <c:pt idx="0">
                  <c:v>714122</c:v>
                </c:pt>
                <c:pt idx="1">
                  <c:v>652155</c:v>
                </c:pt>
                <c:pt idx="2">
                  <c:v>383079</c:v>
                </c:pt>
                <c:pt idx="3">
                  <c:v>507081</c:v>
                </c:pt>
                <c:pt idx="4">
                  <c:v>694721</c:v>
                </c:pt>
                <c:pt idx="5">
                  <c:v>943481</c:v>
                </c:pt>
                <c:pt idx="6">
                  <c:v>804250</c:v>
                </c:pt>
                <c:pt idx="7">
                  <c:v>849747</c:v>
                </c:pt>
                <c:pt idx="8">
                  <c:v>719153</c:v>
                </c:pt>
              </c:numCache>
            </c:numRef>
          </c:val>
          <c:smooth val="0"/>
          <c:extLst>
            <c:ext xmlns:c16="http://schemas.microsoft.com/office/drawing/2014/chart" uri="{C3380CC4-5D6E-409C-BE32-E72D297353CC}">
              <c16:uniqueId val="{00000001-48F2-FE45-8DCC-36D581C632DF}"/>
            </c:ext>
          </c:extLst>
        </c:ser>
        <c:dLbls>
          <c:showLegendKey val="0"/>
          <c:showVal val="0"/>
          <c:showCatName val="0"/>
          <c:showSerName val="0"/>
          <c:showPercent val="0"/>
          <c:showBubbleSize val="0"/>
        </c:dLbls>
        <c:marker val="1"/>
        <c:smooth val="0"/>
        <c:axId val="1128774432"/>
        <c:axId val="1128735856"/>
      </c:lineChart>
      <c:catAx>
        <c:axId val="11287744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128735856"/>
        <c:crosses val="autoZero"/>
        <c:auto val="1"/>
        <c:lblAlgn val="ctr"/>
        <c:lblOffset val="100"/>
        <c:noMultiLvlLbl val="0"/>
      </c:catAx>
      <c:valAx>
        <c:axId val="11287358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12877443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pivotSource>
    <c:name>[manale.xlsx]Etape1-2!Tableau croisé dynamique1</c:name>
    <c:fmtId val="4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600" b="1">
                <a:solidFill>
                  <a:schemeClr val="tx1"/>
                </a:solidFill>
              </a:rPr>
              <a:t>TOP</a:t>
            </a:r>
            <a:r>
              <a:rPr lang="fr-FR" sz="1600" b="1" baseline="0">
                <a:solidFill>
                  <a:schemeClr val="tx1"/>
                </a:solidFill>
              </a:rPr>
              <a:t> 3 familles de produits</a:t>
            </a:r>
            <a:endParaRPr lang="fr-FR" sz="1600" b="1">
              <a:solidFill>
                <a:schemeClr val="tx1"/>
              </a:solidFill>
            </a:endParaRPr>
          </a:p>
        </c:rich>
      </c:tx>
      <c:layout>
        <c:manualLayout>
          <c:xMode val="edge"/>
          <c:yMode val="edge"/>
          <c:x val="0.24794629604424404"/>
          <c:y val="1.3695479925472865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9.5135419628094353E-2"/>
          <c:y val="1.8797046197711508E-2"/>
          <c:w val="0.89979978399866634"/>
          <c:h val="0.91254869915856374"/>
        </c:manualLayout>
      </c:layout>
      <c:barChart>
        <c:barDir val="col"/>
        <c:grouping val="clustered"/>
        <c:varyColors val="0"/>
        <c:ser>
          <c:idx val="0"/>
          <c:order val="0"/>
          <c:tx>
            <c:strRef>
              <c:f>'Etape1-2'!$B$3:$B$4</c:f>
              <c:strCache>
                <c:ptCount val="1"/>
                <c:pt idx="0">
                  <c:v>BOULANGERIE</c:v>
                </c:pt>
              </c:strCache>
            </c:strRef>
          </c:tx>
          <c:spPr>
            <a:solidFill>
              <a:schemeClr val="accent1"/>
            </a:solidFill>
            <a:ln>
              <a:noFill/>
            </a:ln>
            <a:effectLst/>
          </c:spPr>
          <c:invertIfNegative val="0"/>
          <c:cat>
            <c:strRef>
              <c:f>'Etape1-2'!$A$5:$A$14</c:f>
              <c:strCache>
                <c:ptCount val="9"/>
                <c:pt idx="0">
                  <c:v>202205</c:v>
                </c:pt>
                <c:pt idx="1">
                  <c:v>202206</c:v>
                </c:pt>
                <c:pt idx="2">
                  <c:v>202207</c:v>
                </c:pt>
                <c:pt idx="3">
                  <c:v>202208</c:v>
                </c:pt>
                <c:pt idx="4">
                  <c:v>202209</c:v>
                </c:pt>
                <c:pt idx="5">
                  <c:v>202210</c:v>
                </c:pt>
                <c:pt idx="6">
                  <c:v>202211</c:v>
                </c:pt>
                <c:pt idx="7">
                  <c:v>202212</c:v>
                </c:pt>
                <c:pt idx="8">
                  <c:v>202301</c:v>
                </c:pt>
              </c:strCache>
            </c:strRef>
          </c:cat>
          <c:val>
            <c:numRef>
              <c:f>'Etape1-2'!$B$5:$B$14</c:f>
              <c:numCache>
                <c:formatCode>General</c:formatCode>
                <c:ptCount val="9"/>
                <c:pt idx="0">
                  <c:v>10200</c:v>
                </c:pt>
                <c:pt idx="1">
                  <c:v>33814</c:v>
                </c:pt>
                <c:pt idx="2">
                  <c:v>19386</c:v>
                </c:pt>
                <c:pt idx="3">
                  <c:v>32000</c:v>
                </c:pt>
                <c:pt idx="4">
                  <c:v>40725</c:v>
                </c:pt>
                <c:pt idx="5">
                  <c:v>57990</c:v>
                </c:pt>
                <c:pt idx="6">
                  <c:v>77934</c:v>
                </c:pt>
                <c:pt idx="7">
                  <c:v>80717</c:v>
                </c:pt>
                <c:pt idx="8">
                  <c:v>112484</c:v>
                </c:pt>
              </c:numCache>
            </c:numRef>
          </c:val>
          <c:extLst>
            <c:ext xmlns:c16="http://schemas.microsoft.com/office/drawing/2014/chart" uri="{C3380CC4-5D6E-409C-BE32-E72D297353CC}">
              <c16:uniqueId val="{00000000-615A-DA4A-86D6-FBF23DC483F0}"/>
            </c:ext>
          </c:extLst>
        </c:ser>
        <c:ser>
          <c:idx val="1"/>
          <c:order val="1"/>
          <c:tx>
            <c:strRef>
              <c:f>'Etape1-2'!$C$3:$C$4</c:f>
              <c:strCache>
                <c:ptCount val="1"/>
                <c:pt idx="0">
                  <c:v>CREMERIE</c:v>
                </c:pt>
              </c:strCache>
            </c:strRef>
          </c:tx>
          <c:spPr>
            <a:solidFill>
              <a:schemeClr val="accent2"/>
            </a:solidFill>
            <a:ln>
              <a:noFill/>
            </a:ln>
            <a:effectLst/>
          </c:spPr>
          <c:invertIfNegative val="0"/>
          <c:cat>
            <c:strRef>
              <c:f>'Etape1-2'!$A$5:$A$14</c:f>
              <c:strCache>
                <c:ptCount val="9"/>
                <c:pt idx="0">
                  <c:v>202205</c:v>
                </c:pt>
                <c:pt idx="1">
                  <c:v>202206</c:v>
                </c:pt>
                <c:pt idx="2">
                  <c:v>202207</c:v>
                </c:pt>
                <c:pt idx="3">
                  <c:v>202208</c:v>
                </c:pt>
                <c:pt idx="4">
                  <c:v>202209</c:v>
                </c:pt>
                <c:pt idx="5">
                  <c:v>202210</c:v>
                </c:pt>
                <c:pt idx="6">
                  <c:v>202211</c:v>
                </c:pt>
                <c:pt idx="7">
                  <c:v>202212</c:v>
                </c:pt>
                <c:pt idx="8">
                  <c:v>202301</c:v>
                </c:pt>
              </c:strCache>
            </c:strRef>
          </c:cat>
          <c:val>
            <c:numRef>
              <c:f>'Etape1-2'!$C$5:$C$14</c:f>
              <c:numCache>
                <c:formatCode>General</c:formatCode>
                <c:ptCount val="9"/>
                <c:pt idx="0">
                  <c:v>22508</c:v>
                </c:pt>
                <c:pt idx="1">
                  <c:v>24700</c:v>
                </c:pt>
                <c:pt idx="2">
                  <c:v>18537</c:v>
                </c:pt>
                <c:pt idx="3">
                  <c:v>25112</c:v>
                </c:pt>
                <c:pt idx="4">
                  <c:v>27558</c:v>
                </c:pt>
                <c:pt idx="5">
                  <c:v>39661</c:v>
                </c:pt>
                <c:pt idx="6">
                  <c:v>37794</c:v>
                </c:pt>
                <c:pt idx="7">
                  <c:v>25570</c:v>
                </c:pt>
                <c:pt idx="8">
                  <c:v>40564</c:v>
                </c:pt>
              </c:numCache>
            </c:numRef>
          </c:val>
          <c:extLst>
            <c:ext xmlns:c16="http://schemas.microsoft.com/office/drawing/2014/chart" uri="{C3380CC4-5D6E-409C-BE32-E72D297353CC}">
              <c16:uniqueId val="{00000001-615A-DA4A-86D6-FBF23DC483F0}"/>
            </c:ext>
          </c:extLst>
        </c:ser>
        <c:ser>
          <c:idx val="2"/>
          <c:order val="2"/>
          <c:tx>
            <c:strRef>
              <c:f>'Etape1-2'!$D$3:$D$4</c:f>
              <c:strCache>
                <c:ptCount val="1"/>
                <c:pt idx="0">
                  <c:v>EMBALLAGES</c:v>
                </c:pt>
              </c:strCache>
            </c:strRef>
          </c:tx>
          <c:spPr>
            <a:solidFill>
              <a:schemeClr val="accent3"/>
            </a:solidFill>
            <a:ln>
              <a:noFill/>
            </a:ln>
            <a:effectLst/>
          </c:spPr>
          <c:invertIfNegative val="0"/>
          <c:cat>
            <c:strRef>
              <c:f>'Etape1-2'!$A$5:$A$14</c:f>
              <c:strCache>
                <c:ptCount val="9"/>
                <c:pt idx="0">
                  <c:v>202205</c:v>
                </c:pt>
                <c:pt idx="1">
                  <c:v>202206</c:v>
                </c:pt>
                <c:pt idx="2">
                  <c:v>202207</c:v>
                </c:pt>
                <c:pt idx="3">
                  <c:v>202208</c:v>
                </c:pt>
                <c:pt idx="4">
                  <c:v>202209</c:v>
                </c:pt>
                <c:pt idx="5">
                  <c:v>202210</c:v>
                </c:pt>
                <c:pt idx="6">
                  <c:v>202211</c:v>
                </c:pt>
                <c:pt idx="7">
                  <c:v>202212</c:v>
                </c:pt>
                <c:pt idx="8">
                  <c:v>202301</c:v>
                </c:pt>
              </c:strCache>
            </c:strRef>
          </c:cat>
          <c:val>
            <c:numRef>
              <c:f>'Etape1-2'!$D$5:$D$14</c:f>
              <c:numCache>
                <c:formatCode>General</c:formatCode>
                <c:ptCount val="9"/>
                <c:pt idx="0">
                  <c:v>3029</c:v>
                </c:pt>
                <c:pt idx="1">
                  <c:v>6102</c:v>
                </c:pt>
                <c:pt idx="2">
                  <c:v>5057</c:v>
                </c:pt>
                <c:pt idx="3">
                  <c:v>4106</c:v>
                </c:pt>
                <c:pt idx="4">
                  <c:v>7943</c:v>
                </c:pt>
                <c:pt idx="5">
                  <c:v>6468</c:v>
                </c:pt>
                <c:pt idx="6">
                  <c:v>5938</c:v>
                </c:pt>
                <c:pt idx="7">
                  <c:v>7702</c:v>
                </c:pt>
                <c:pt idx="8">
                  <c:v>7897</c:v>
                </c:pt>
              </c:numCache>
            </c:numRef>
          </c:val>
          <c:extLst>
            <c:ext xmlns:c16="http://schemas.microsoft.com/office/drawing/2014/chart" uri="{C3380CC4-5D6E-409C-BE32-E72D297353CC}">
              <c16:uniqueId val="{00000002-615A-DA4A-86D6-FBF23DC483F0}"/>
            </c:ext>
          </c:extLst>
        </c:ser>
        <c:dLbls>
          <c:showLegendKey val="0"/>
          <c:showVal val="0"/>
          <c:showCatName val="0"/>
          <c:showSerName val="0"/>
          <c:showPercent val="0"/>
          <c:showBubbleSize val="0"/>
        </c:dLbls>
        <c:gapWidth val="219"/>
        <c:axId val="1118630383"/>
        <c:axId val="1118779055"/>
      </c:barChart>
      <c:dateAx>
        <c:axId val="11186303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fr-FR"/>
          </a:p>
        </c:txPr>
        <c:crossAx val="1118779055"/>
        <c:crosses val="autoZero"/>
        <c:auto val="0"/>
        <c:lblOffset val="100"/>
        <c:baseTimeUnit val="days"/>
      </c:dateAx>
      <c:valAx>
        <c:axId val="11187790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118630383"/>
        <c:crosses val="autoZero"/>
        <c:crossBetween val="between"/>
      </c:valAx>
      <c:spPr>
        <a:noFill/>
        <a:ln>
          <a:noFill/>
        </a:ln>
        <a:effectLst/>
      </c:spPr>
    </c:plotArea>
    <c:legend>
      <c:legendPos val="r"/>
      <c:layout>
        <c:manualLayout>
          <c:xMode val="edge"/>
          <c:yMode val="edge"/>
          <c:x val="0.14353155737605899"/>
          <c:y val="0.19513740367669716"/>
          <c:w val="0.17628974621856724"/>
          <c:h val="0.1732844861215991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 name="Google Shape;6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 name="Google Shape;8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13f9e8f1567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g13f9e8f1567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1644a70ef9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g1644a70ef9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1644a70ef9a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g1644a70ef9a_0_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044372-4989-DCBE-27EB-5CFE41EE1C46}"/>
              </a:ext>
            </a:extLst>
          </p:cNvPr>
          <p:cNvSpPr>
            <a:spLocks noGrp="1"/>
          </p:cNvSpPr>
          <p:nvPr>
            <p:ph type="ctrTitle"/>
          </p:nvPr>
        </p:nvSpPr>
        <p:spPr>
          <a:xfrm>
            <a:off x="1143000" y="841772"/>
            <a:ext cx="6858000" cy="1790700"/>
          </a:xfrm>
        </p:spPr>
        <p:txBody>
          <a:bodyPr anchor="b"/>
          <a:lstStyle>
            <a:lvl1pPr algn="ctr">
              <a:defRPr sz="4500"/>
            </a:lvl1pPr>
          </a:lstStyle>
          <a:p>
            <a:r>
              <a:rPr lang="fr-FR"/>
              <a:t>Modifiez le style du titre</a:t>
            </a:r>
          </a:p>
        </p:txBody>
      </p:sp>
      <p:sp>
        <p:nvSpPr>
          <p:cNvPr id="3" name="Sous-titre 2">
            <a:extLst>
              <a:ext uri="{FF2B5EF4-FFF2-40B4-BE49-F238E27FC236}">
                <a16:creationId xmlns:a16="http://schemas.microsoft.com/office/drawing/2014/main" id="{DF93A2E5-5727-65EB-400C-01C099B6C5C7}"/>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D9FBA1B2-5CDA-96FE-8D13-7092B3B0DC03}"/>
              </a:ext>
            </a:extLst>
          </p:cNvPr>
          <p:cNvSpPr>
            <a:spLocks noGrp="1"/>
          </p:cNvSpPr>
          <p:nvPr>
            <p:ph type="dt" sz="half" idx="10"/>
          </p:nvPr>
        </p:nvSpPr>
        <p:spPr/>
        <p:txBody>
          <a:bodyPr/>
          <a:lstStyle/>
          <a:p>
            <a:fld id="{8B6EAAEB-ABCA-AB48-9CF1-099A25F0D9D2}" type="datetimeFigureOut">
              <a:rPr lang="fr-FR" smtClean="0"/>
              <a:t>07/12/2025</a:t>
            </a:fld>
            <a:endParaRPr lang="fr-FR"/>
          </a:p>
        </p:txBody>
      </p:sp>
      <p:sp>
        <p:nvSpPr>
          <p:cNvPr id="5" name="Espace réservé du pied de page 4">
            <a:extLst>
              <a:ext uri="{FF2B5EF4-FFF2-40B4-BE49-F238E27FC236}">
                <a16:creationId xmlns:a16="http://schemas.microsoft.com/office/drawing/2014/main" id="{A2C48558-61D1-9F98-5F54-B2827E9AC9C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EA2A12C-B40D-703B-C844-5A0AFB637F6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229702334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57C21D-D86B-D0B2-620D-DA4F6364F53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1836B1C-32C5-5852-3670-66FD701745A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F1BC715-ADD7-5964-E53A-45ED6A43C912}"/>
              </a:ext>
            </a:extLst>
          </p:cNvPr>
          <p:cNvSpPr>
            <a:spLocks noGrp="1"/>
          </p:cNvSpPr>
          <p:nvPr>
            <p:ph type="dt" sz="half" idx="10"/>
          </p:nvPr>
        </p:nvSpPr>
        <p:spPr/>
        <p:txBody>
          <a:bodyPr/>
          <a:lstStyle/>
          <a:p>
            <a:fld id="{8B6EAAEB-ABCA-AB48-9CF1-099A25F0D9D2}" type="datetimeFigureOut">
              <a:rPr lang="fr-FR" smtClean="0"/>
              <a:t>07/12/2025</a:t>
            </a:fld>
            <a:endParaRPr lang="fr-FR"/>
          </a:p>
        </p:txBody>
      </p:sp>
      <p:sp>
        <p:nvSpPr>
          <p:cNvPr id="5" name="Espace réservé du pied de page 4">
            <a:extLst>
              <a:ext uri="{FF2B5EF4-FFF2-40B4-BE49-F238E27FC236}">
                <a16:creationId xmlns:a16="http://schemas.microsoft.com/office/drawing/2014/main" id="{FCD09E4A-6418-8D8C-C0D6-A1ADB88BC5F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4B1DCCA-724F-A6BF-4170-0BA65FF3011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52704207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AE517C-D9FD-8EC2-0608-8B8CFE8DE7D7}"/>
              </a:ext>
            </a:extLst>
          </p:cNvPr>
          <p:cNvSpPr>
            <a:spLocks noGrp="1"/>
          </p:cNvSpPr>
          <p:nvPr>
            <p:ph type="title"/>
          </p:nvPr>
        </p:nvSpPr>
        <p:spPr>
          <a:xfrm>
            <a:off x="623888" y="1282304"/>
            <a:ext cx="7886700" cy="2139553"/>
          </a:xfrm>
        </p:spPr>
        <p:txBody>
          <a:bodyPr anchor="b"/>
          <a:lstStyle>
            <a:lvl1pPr>
              <a:defRPr sz="4500"/>
            </a:lvl1pPr>
          </a:lstStyle>
          <a:p>
            <a:r>
              <a:rPr lang="fr-FR"/>
              <a:t>Modifiez le style du titre</a:t>
            </a:r>
          </a:p>
        </p:txBody>
      </p:sp>
      <p:sp>
        <p:nvSpPr>
          <p:cNvPr id="3" name="Espace réservé du texte 2">
            <a:extLst>
              <a:ext uri="{FF2B5EF4-FFF2-40B4-BE49-F238E27FC236}">
                <a16:creationId xmlns:a16="http://schemas.microsoft.com/office/drawing/2014/main" id="{375352A1-526C-C657-55A2-FC07D3CFDB89}"/>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43F5063-B24E-C0FB-DB24-8C5FF80BA2C4}"/>
              </a:ext>
            </a:extLst>
          </p:cNvPr>
          <p:cNvSpPr>
            <a:spLocks noGrp="1"/>
          </p:cNvSpPr>
          <p:nvPr>
            <p:ph type="dt" sz="half" idx="10"/>
          </p:nvPr>
        </p:nvSpPr>
        <p:spPr/>
        <p:txBody>
          <a:bodyPr/>
          <a:lstStyle/>
          <a:p>
            <a:fld id="{8B6EAAEB-ABCA-AB48-9CF1-099A25F0D9D2}" type="datetimeFigureOut">
              <a:rPr lang="fr-FR" smtClean="0"/>
              <a:t>07/12/2025</a:t>
            </a:fld>
            <a:endParaRPr lang="fr-FR"/>
          </a:p>
        </p:txBody>
      </p:sp>
      <p:sp>
        <p:nvSpPr>
          <p:cNvPr id="5" name="Espace réservé du pied de page 4">
            <a:extLst>
              <a:ext uri="{FF2B5EF4-FFF2-40B4-BE49-F238E27FC236}">
                <a16:creationId xmlns:a16="http://schemas.microsoft.com/office/drawing/2014/main" id="{4FDC97E7-2819-E82C-F13D-0F705363639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796D9B4-01EC-55D2-F27F-61B0C051F6D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368790696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F5EC54-A8D7-9D71-F884-88E5EF65C3D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DB8F164-E334-7CC2-0DAD-C32B4E2116F8}"/>
              </a:ext>
            </a:extLst>
          </p:cNvPr>
          <p:cNvSpPr>
            <a:spLocks noGrp="1"/>
          </p:cNvSpPr>
          <p:nvPr>
            <p:ph sz="half" idx="1"/>
          </p:nvPr>
        </p:nvSpPr>
        <p:spPr>
          <a:xfrm>
            <a:off x="628650" y="1369219"/>
            <a:ext cx="3886200" cy="326350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A0E16C9B-2937-AF43-3A6B-EBC488DB2A55}"/>
              </a:ext>
            </a:extLst>
          </p:cNvPr>
          <p:cNvSpPr>
            <a:spLocks noGrp="1"/>
          </p:cNvSpPr>
          <p:nvPr>
            <p:ph sz="half" idx="2"/>
          </p:nvPr>
        </p:nvSpPr>
        <p:spPr>
          <a:xfrm>
            <a:off x="4629150" y="1369219"/>
            <a:ext cx="3886200" cy="326350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8EC28B2-010B-F6AE-136E-70A09D95CBB4}"/>
              </a:ext>
            </a:extLst>
          </p:cNvPr>
          <p:cNvSpPr>
            <a:spLocks noGrp="1"/>
          </p:cNvSpPr>
          <p:nvPr>
            <p:ph type="dt" sz="half" idx="10"/>
          </p:nvPr>
        </p:nvSpPr>
        <p:spPr/>
        <p:txBody>
          <a:bodyPr/>
          <a:lstStyle/>
          <a:p>
            <a:fld id="{8B6EAAEB-ABCA-AB48-9CF1-099A25F0D9D2}" type="datetimeFigureOut">
              <a:rPr lang="fr-FR" smtClean="0"/>
              <a:t>07/12/2025</a:t>
            </a:fld>
            <a:endParaRPr lang="fr-FR"/>
          </a:p>
        </p:txBody>
      </p:sp>
      <p:sp>
        <p:nvSpPr>
          <p:cNvPr id="6" name="Espace réservé du pied de page 5">
            <a:extLst>
              <a:ext uri="{FF2B5EF4-FFF2-40B4-BE49-F238E27FC236}">
                <a16:creationId xmlns:a16="http://schemas.microsoft.com/office/drawing/2014/main" id="{7446018E-6303-A562-AC1A-72651B85D17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8D489E7-5D45-27FB-84A8-6F8B22263EE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33891085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D0EA3F-3CE9-6225-0FD6-8575A69C0524}"/>
              </a:ext>
            </a:extLst>
          </p:cNvPr>
          <p:cNvSpPr>
            <a:spLocks noGrp="1"/>
          </p:cNvSpPr>
          <p:nvPr>
            <p:ph type="title"/>
          </p:nvPr>
        </p:nvSpPr>
        <p:spPr>
          <a:xfrm>
            <a:off x="629841" y="273844"/>
            <a:ext cx="7886700" cy="994172"/>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5A76E17-CF76-8083-161B-8F5E9A1DD53E}"/>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61C23E0-89F4-9CF3-30F8-7C781E339776}"/>
              </a:ext>
            </a:extLst>
          </p:cNvPr>
          <p:cNvSpPr>
            <a:spLocks noGrp="1"/>
          </p:cNvSpPr>
          <p:nvPr>
            <p:ph sz="half" idx="2"/>
          </p:nvPr>
        </p:nvSpPr>
        <p:spPr>
          <a:xfrm>
            <a:off x="629842" y="1878806"/>
            <a:ext cx="3868340" cy="276344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0EE3CBF0-09EB-2F7E-48B1-331B6302B7FD}"/>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56E2663B-11E2-3073-9876-C42784C1AD3B}"/>
              </a:ext>
            </a:extLst>
          </p:cNvPr>
          <p:cNvSpPr>
            <a:spLocks noGrp="1"/>
          </p:cNvSpPr>
          <p:nvPr>
            <p:ph sz="quarter" idx="4"/>
          </p:nvPr>
        </p:nvSpPr>
        <p:spPr>
          <a:xfrm>
            <a:off x="4629150" y="1878806"/>
            <a:ext cx="3887391" cy="276344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3AA18AE6-E497-AC41-0491-B6A4D0368D2C}"/>
              </a:ext>
            </a:extLst>
          </p:cNvPr>
          <p:cNvSpPr>
            <a:spLocks noGrp="1"/>
          </p:cNvSpPr>
          <p:nvPr>
            <p:ph type="dt" sz="half" idx="10"/>
          </p:nvPr>
        </p:nvSpPr>
        <p:spPr/>
        <p:txBody>
          <a:bodyPr/>
          <a:lstStyle/>
          <a:p>
            <a:fld id="{8B6EAAEB-ABCA-AB48-9CF1-099A25F0D9D2}" type="datetimeFigureOut">
              <a:rPr lang="fr-FR" smtClean="0"/>
              <a:t>07/12/2025</a:t>
            </a:fld>
            <a:endParaRPr lang="fr-FR"/>
          </a:p>
        </p:txBody>
      </p:sp>
      <p:sp>
        <p:nvSpPr>
          <p:cNvPr id="8" name="Espace réservé du pied de page 7">
            <a:extLst>
              <a:ext uri="{FF2B5EF4-FFF2-40B4-BE49-F238E27FC236}">
                <a16:creationId xmlns:a16="http://schemas.microsoft.com/office/drawing/2014/main" id="{D40F3B4C-A415-B83E-EC91-969219FE5758}"/>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B7162D3F-3BB9-D98E-D4DA-BD80DD3BF69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234607397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C5BE14-B873-45DE-6F66-27694BDE05FA}"/>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018CF6C-059E-7054-8947-9386E394357C}"/>
              </a:ext>
            </a:extLst>
          </p:cNvPr>
          <p:cNvSpPr>
            <a:spLocks noGrp="1"/>
          </p:cNvSpPr>
          <p:nvPr>
            <p:ph type="dt" sz="half" idx="10"/>
          </p:nvPr>
        </p:nvSpPr>
        <p:spPr/>
        <p:txBody>
          <a:bodyPr/>
          <a:lstStyle/>
          <a:p>
            <a:fld id="{8B6EAAEB-ABCA-AB48-9CF1-099A25F0D9D2}" type="datetimeFigureOut">
              <a:rPr lang="fr-FR" smtClean="0"/>
              <a:t>07/12/2025</a:t>
            </a:fld>
            <a:endParaRPr lang="fr-FR"/>
          </a:p>
        </p:txBody>
      </p:sp>
      <p:sp>
        <p:nvSpPr>
          <p:cNvPr id="4" name="Espace réservé du pied de page 3">
            <a:extLst>
              <a:ext uri="{FF2B5EF4-FFF2-40B4-BE49-F238E27FC236}">
                <a16:creationId xmlns:a16="http://schemas.microsoft.com/office/drawing/2014/main" id="{719563FC-5B09-A6B4-CEB5-EAA36A118A59}"/>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EA9E8A5E-A49B-D4A3-4F34-6BDD336B4F2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402589051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1CD0DCFA-E882-A117-F0D9-E45EEFD5DA28}"/>
              </a:ext>
            </a:extLst>
          </p:cNvPr>
          <p:cNvSpPr>
            <a:spLocks noGrp="1"/>
          </p:cNvSpPr>
          <p:nvPr>
            <p:ph type="dt" sz="half" idx="10"/>
          </p:nvPr>
        </p:nvSpPr>
        <p:spPr/>
        <p:txBody>
          <a:bodyPr/>
          <a:lstStyle/>
          <a:p>
            <a:fld id="{8B6EAAEB-ABCA-AB48-9CF1-099A25F0D9D2}" type="datetimeFigureOut">
              <a:rPr lang="fr-FR" smtClean="0"/>
              <a:t>07/12/2025</a:t>
            </a:fld>
            <a:endParaRPr lang="fr-FR"/>
          </a:p>
        </p:txBody>
      </p:sp>
      <p:sp>
        <p:nvSpPr>
          <p:cNvPr id="3" name="Espace réservé du pied de page 2">
            <a:extLst>
              <a:ext uri="{FF2B5EF4-FFF2-40B4-BE49-F238E27FC236}">
                <a16:creationId xmlns:a16="http://schemas.microsoft.com/office/drawing/2014/main" id="{6E031C9D-D4E4-2D3A-B57C-C813F2AE9C4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F87EF23C-5668-818C-FC23-1CF4BF09C7C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93983254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73137F-B4CF-C5B3-F4EB-08FC6FC54572}"/>
              </a:ext>
            </a:extLst>
          </p:cNvPr>
          <p:cNvSpPr>
            <a:spLocks noGrp="1"/>
          </p:cNvSpPr>
          <p:nvPr>
            <p:ph type="title"/>
          </p:nvPr>
        </p:nvSpPr>
        <p:spPr>
          <a:xfrm>
            <a:off x="629841" y="342900"/>
            <a:ext cx="2949178" cy="1200150"/>
          </a:xfrm>
        </p:spPr>
        <p:txBody>
          <a:bodyPr anchor="b"/>
          <a:lstStyle>
            <a:lvl1pPr>
              <a:defRPr sz="2400"/>
            </a:lvl1pPr>
          </a:lstStyle>
          <a:p>
            <a:r>
              <a:rPr lang="fr-FR"/>
              <a:t>Modifiez le style du titre</a:t>
            </a:r>
          </a:p>
        </p:txBody>
      </p:sp>
      <p:sp>
        <p:nvSpPr>
          <p:cNvPr id="3" name="Espace réservé du contenu 2">
            <a:extLst>
              <a:ext uri="{FF2B5EF4-FFF2-40B4-BE49-F238E27FC236}">
                <a16:creationId xmlns:a16="http://schemas.microsoft.com/office/drawing/2014/main" id="{B726FA81-CECF-2002-9075-B5B8E3F1D77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EE00306-9DC2-8CAB-A40B-D0C31AEF311E}"/>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AEDBE1C-DB66-F607-1F73-1C06B42631B1}"/>
              </a:ext>
            </a:extLst>
          </p:cNvPr>
          <p:cNvSpPr>
            <a:spLocks noGrp="1"/>
          </p:cNvSpPr>
          <p:nvPr>
            <p:ph type="dt" sz="half" idx="10"/>
          </p:nvPr>
        </p:nvSpPr>
        <p:spPr/>
        <p:txBody>
          <a:bodyPr/>
          <a:lstStyle/>
          <a:p>
            <a:fld id="{8B6EAAEB-ABCA-AB48-9CF1-099A25F0D9D2}" type="datetimeFigureOut">
              <a:rPr lang="fr-FR" smtClean="0"/>
              <a:t>07/12/2025</a:t>
            </a:fld>
            <a:endParaRPr lang="fr-FR"/>
          </a:p>
        </p:txBody>
      </p:sp>
      <p:sp>
        <p:nvSpPr>
          <p:cNvPr id="6" name="Espace réservé du pied de page 5">
            <a:extLst>
              <a:ext uri="{FF2B5EF4-FFF2-40B4-BE49-F238E27FC236}">
                <a16:creationId xmlns:a16="http://schemas.microsoft.com/office/drawing/2014/main" id="{627E9744-951B-F1BF-E248-03F99CBCD2D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4CA8A75-4DDE-4637-30A6-0BBBF00C8E6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253604882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6088D3-9EED-A3DA-B614-AB1A537A4323}"/>
              </a:ext>
            </a:extLst>
          </p:cNvPr>
          <p:cNvSpPr>
            <a:spLocks noGrp="1"/>
          </p:cNvSpPr>
          <p:nvPr>
            <p:ph type="title"/>
          </p:nvPr>
        </p:nvSpPr>
        <p:spPr>
          <a:xfrm>
            <a:off x="629841" y="342900"/>
            <a:ext cx="2949178" cy="1200150"/>
          </a:xfrm>
        </p:spPr>
        <p:txBody>
          <a:bodyPr anchor="b"/>
          <a:lstStyle>
            <a:lvl1pPr>
              <a:defRPr sz="2400"/>
            </a:lvl1pPr>
          </a:lstStyle>
          <a:p>
            <a:r>
              <a:rPr lang="fr-FR"/>
              <a:t>Modifiez le style du titre</a:t>
            </a:r>
          </a:p>
        </p:txBody>
      </p:sp>
      <p:sp>
        <p:nvSpPr>
          <p:cNvPr id="3" name="Espace réservé pour une image  2">
            <a:extLst>
              <a:ext uri="{FF2B5EF4-FFF2-40B4-BE49-F238E27FC236}">
                <a16:creationId xmlns:a16="http://schemas.microsoft.com/office/drawing/2014/main" id="{FCDA161F-C8B7-292F-089B-D545A3B7522F}"/>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fr-FR"/>
          </a:p>
        </p:txBody>
      </p:sp>
      <p:sp>
        <p:nvSpPr>
          <p:cNvPr id="4" name="Espace réservé du texte 3">
            <a:extLst>
              <a:ext uri="{FF2B5EF4-FFF2-40B4-BE49-F238E27FC236}">
                <a16:creationId xmlns:a16="http://schemas.microsoft.com/office/drawing/2014/main" id="{9D7174AD-8C96-BA39-AD63-36DCB291EA08}"/>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8CD8C3D-33CB-9AA1-3813-E124A91540FA}"/>
              </a:ext>
            </a:extLst>
          </p:cNvPr>
          <p:cNvSpPr>
            <a:spLocks noGrp="1"/>
          </p:cNvSpPr>
          <p:nvPr>
            <p:ph type="dt" sz="half" idx="10"/>
          </p:nvPr>
        </p:nvSpPr>
        <p:spPr/>
        <p:txBody>
          <a:bodyPr/>
          <a:lstStyle/>
          <a:p>
            <a:fld id="{8B6EAAEB-ABCA-AB48-9CF1-099A25F0D9D2}" type="datetimeFigureOut">
              <a:rPr lang="fr-FR" smtClean="0"/>
              <a:t>07/12/2025</a:t>
            </a:fld>
            <a:endParaRPr lang="fr-FR"/>
          </a:p>
        </p:txBody>
      </p:sp>
      <p:sp>
        <p:nvSpPr>
          <p:cNvPr id="6" name="Espace réservé du pied de page 5">
            <a:extLst>
              <a:ext uri="{FF2B5EF4-FFF2-40B4-BE49-F238E27FC236}">
                <a16:creationId xmlns:a16="http://schemas.microsoft.com/office/drawing/2014/main" id="{B1161D2B-E4AB-F16C-5654-B4DB58D46AA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ACD5AD1-9E18-EEAC-AC60-7AD5CD1A523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86853304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EDDC00-B34B-2163-3CA6-1ECD55C55B5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C173E5E2-9233-641F-126C-4590395F271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FF26F50-9556-1BA4-A0AA-D34BA5BAA9F2}"/>
              </a:ext>
            </a:extLst>
          </p:cNvPr>
          <p:cNvSpPr>
            <a:spLocks noGrp="1"/>
          </p:cNvSpPr>
          <p:nvPr>
            <p:ph type="dt" sz="half" idx="10"/>
          </p:nvPr>
        </p:nvSpPr>
        <p:spPr/>
        <p:txBody>
          <a:bodyPr/>
          <a:lstStyle/>
          <a:p>
            <a:fld id="{8B6EAAEB-ABCA-AB48-9CF1-099A25F0D9D2}" type="datetimeFigureOut">
              <a:rPr lang="fr-FR" smtClean="0"/>
              <a:t>07/12/2025</a:t>
            </a:fld>
            <a:endParaRPr lang="fr-FR"/>
          </a:p>
        </p:txBody>
      </p:sp>
      <p:sp>
        <p:nvSpPr>
          <p:cNvPr id="5" name="Espace réservé du pied de page 4">
            <a:extLst>
              <a:ext uri="{FF2B5EF4-FFF2-40B4-BE49-F238E27FC236}">
                <a16:creationId xmlns:a16="http://schemas.microsoft.com/office/drawing/2014/main" id="{1973247B-5621-9F35-B99D-078BB7DE59B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BE4E0E5-50AD-6ED4-FAEF-BA0CA748160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202715371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73459A61-17C2-B37F-21DF-3B7C34927B3B}"/>
              </a:ext>
            </a:extLst>
          </p:cNvPr>
          <p:cNvSpPr>
            <a:spLocks noGrp="1"/>
          </p:cNvSpPr>
          <p:nvPr>
            <p:ph type="title" orient="vert"/>
          </p:nvPr>
        </p:nvSpPr>
        <p:spPr>
          <a:xfrm>
            <a:off x="6543675" y="273844"/>
            <a:ext cx="1971675" cy="4358879"/>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0D66EC04-D8D5-3DC4-75E4-D81A789CAAB3}"/>
              </a:ext>
            </a:extLst>
          </p:cNvPr>
          <p:cNvSpPr>
            <a:spLocks noGrp="1"/>
          </p:cNvSpPr>
          <p:nvPr>
            <p:ph type="body" orient="vert" idx="1"/>
          </p:nvPr>
        </p:nvSpPr>
        <p:spPr>
          <a:xfrm>
            <a:off x="628650" y="273844"/>
            <a:ext cx="5800725" cy="4358879"/>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93FC17D-9D32-D8C3-32CB-D7B27818CB99}"/>
              </a:ext>
            </a:extLst>
          </p:cNvPr>
          <p:cNvSpPr>
            <a:spLocks noGrp="1"/>
          </p:cNvSpPr>
          <p:nvPr>
            <p:ph type="dt" sz="half" idx="10"/>
          </p:nvPr>
        </p:nvSpPr>
        <p:spPr/>
        <p:txBody>
          <a:bodyPr/>
          <a:lstStyle/>
          <a:p>
            <a:fld id="{8B6EAAEB-ABCA-AB48-9CF1-099A25F0D9D2}" type="datetimeFigureOut">
              <a:rPr lang="fr-FR" smtClean="0"/>
              <a:t>07/12/2025</a:t>
            </a:fld>
            <a:endParaRPr lang="fr-FR"/>
          </a:p>
        </p:txBody>
      </p:sp>
      <p:sp>
        <p:nvSpPr>
          <p:cNvPr id="5" name="Espace réservé du pied de page 4">
            <a:extLst>
              <a:ext uri="{FF2B5EF4-FFF2-40B4-BE49-F238E27FC236}">
                <a16:creationId xmlns:a16="http://schemas.microsoft.com/office/drawing/2014/main" id="{68CE1A23-4466-807D-0B6B-3B58D4E15FA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47E4699-3550-C059-3E43-18F27590712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86272269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7" name="Google Shape;37;p17"/>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7"/>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7"/>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22746500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1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2847165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54F1929-CF27-4D40-7C56-624847ECDF28}"/>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3B0EF265-5873-5E37-F86C-5C634FFFA0C3}"/>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1FAB828-7C38-89B8-37D6-64C93DFDBB72}"/>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8B6EAAEB-ABCA-AB48-9CF1-099A25F0D9D2}" type="datetimeFigureOut">
              <a:rPr lang="fr-FR" smtClean="0"/>
              <a:t>07/12/2025</a:t>
            </a:fld>
            <a:endParaRPr lang="fr-FR"/>
          </a:p>
        </p:txBody>
      </p:sp>
      <p:sp>
        <p:nvSpPr>
          <p:cNvPr id="5" name="Espace réservé du pied de page 4">
            <a:extLst>
              <a:ext uri="{FF2B5EF4-FFF2-40B4-BE49-F238E27FC236}">
                <a16:creationId xmlns:a16="http://schemas.microsoft.com/office/drawing/2014/main" id="{F604D066-33E4-0BC2-F4DA-F52816764135}"/>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B3C65DC-31FF-9FE4-AEDD-3CEBCA95CDFF}"/>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93553982"/>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txBox="1"/>
          <p:nvPr/>
        </p:nvSpPr>
        <p:spPr>
          <a:xfrm>
            <a:off x="652150" y="1851250"/>
            <a:ext cx="7983300" cy="894000"/>
          </a:xfrm>
          <a:prstGeom prst="rect">
            <a:avLst/>
          </a:prstGeom>
          <a:noFill/>
          <a:ln>
            <a:noFill/>
          </a:ln>
        </p:spPr>
        <p:txBody>
          <a:bodyPr spcFirstLastPara="1" wrap="square" lIns="91425" tIns="91425" rIns="91425" bIns="91425" anchor="b" anchorCtr="0">
            <a:normAutofit fontScale="92500" lnSpcReduction="10000"/>
          </a:bodyPr>
          <a:lstStyle/>
          <a:p>
            <a:pPr marL="0" marR="0" lvl="0" indent="0" algn="ctr" rtl="0">
              <a:lnSpc>
                <a:spcPct val="100000"/>
              </a:lnSpc>
              <a:spcBef>
                <a:spcPts val="0"/>
              </a:spcBef>
              <a:spcAft>
                <a:spcPts val="0"/>
              </a:spcAft>
              <a:buClr>
                <a:srgbClr val="000000"/>
              </a:buClr>
              <a:buSzPts val="5200"/>
              <a:buFont typeface="Arial"/>
              <a:buNone/>
            </a:pPr>
            <a:r>
              <a:rPr lang="fr" sz="5200" dirty="0">
                <a:solidFill>
                  <a:schemeClr val="dk1"/>
                </a:solidFill>
                <a:latin typeface="Montserrat"/>
                <a:ea typeface="Montserrat"/>
                <a:cs typeface="Montserrat"/>
                <a:sym typeface="Montserrat"/>
              </a:rPr>
              <a:t>Best of </a:t>
            </a:r>
            <a:r>
              <a:rPr lang="fr" sz="5200" dirty="0" err="1">
                <a:solidFill>
                  <a:schemeClr val="dk1"/>
                </a:solidFill>
                <a:latin typeface="Montserrat"/>
                <a:ea typeface="Montserrat"/>
                <a:cs typeface="Montserrat"/>
                <a:sym typeface="Montserrat"/>
              </a:rPr>
              <a:t>Fresh</a:t>
            </a:r>
            <a:endParaRPr sz="5200" b="0" i="0" u="none" strike="noStrike" cap="none" dirty="0">
              <a:solidFill>
                <a:schemeClr val="dk1"/>
              </a:solidFill>
              <a:latin typeface="Montserrat"/>
              <a:ea typeface="Montserrat"/>
              <a:cs typeface="Montserrat"/>
              <a:sym typeface="Montserrat"/>
            </a:endParaRPr>
          </a:p>
        </p:txBody>
      </p:sp>
      <p:sp>
        <p:nvSpPr>
          <p:cNvPr id="55" name="Google Shape;55;p1"/>
          <p:cNvSpPr txBox="1"/>
          <p:nvPr/>
        </p:nvSpPr>
        <p:spPr>
          <a:xfrm>
            <a:off x="4968964" y="3582148"/>
            <a:ext cx="3807680" cy="534150"/>
          </a:xfrm>
          <a:prstGeom prst="rect">
            <a:avLst/>
          </a:prstGeom>
          <a:noFill/>
          <a:ln>
            <a:noFill/>
          </a:ln>
        </p:spPr>
        <p:txBody>
          <a:bodyPr spcFirstLastPara="1" wrap="square" lIns="91425" tIns="91425" rIns="91425" bIns="91425" anchor="t"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fr" sz="2800" b="0" i="0" u="none" strike="noStrike" cap="none" dirty="0">
                <a:solidFill>
                  <a:schemeClr val="dk1"/>
                </a:solidFill>
                <a:latin typeface="Montserrat"/>
                <a:ea typeface="Montserrat"/>
                <a:cs typeface="Montserrat"/>
                <a:sym typeface="Montserrat"/>
              </a:rPr>
              <a:t>[</a:t>
            </a:r>
            <a:r>
              <a:rPr lang="fr" sz="2000" b="0" i="0" u="none" strike="noStrike" cap="none" dirty="0">
                <a:solidFill>
                  <a:schemeClr val="dk1"/>
                </a:solidFill>
                <a:latin typeface="Montserrat"/>
                <a:ea typeface="Montserrat"/>
                <a:cs typeface="Montserrat"/>
                <a:sym typeface="Montserrat"/>
              </a:rPr>
              <a:t>KARROUMI MANALE</a:t>
            </a:r>
            <a:r>
              <a:rPr lang="fr" sz="2800" b="0" i="0" u="none" strike="noStrike" cap="none" dirty="0">
                <a:solidFill>
                  <a:schemeClr val="dk1"/>
                </a:solidFill>
                <a:latin typeface="Montserrat"/>
                <a:ea typeface="Montserrat"/>
                <a:cs typeface="Montserrat"/>
                <a:sym typeface="Montserrat"/>
              </a:rPr>
              <a:t>]</a:t>
            </a:r>
            <a:endParaRPr sz="2800" b="0" i="0" u="none" strike="noStrike" cap="none" dirty="0">
              <a:solidFill>
                <a:schemeClr val="dk1"/>
              </a:solidFill>
              <a:latin typeface="Montserrat"/>
              <a:ea typeface="Montserrat"/>
              <a:cs typeface="Montserrat"/>
              <a:sym typeface="Montserrat"/>
            </a:endParaRPr>
          </a:p>
        </p:txBody>
      </p:sp>
      <p:sp>
        <p:nvSpPr>
          <p:cNvPr id="56" name="Google Shape;56;p1"/>
          <p:cNvSpPr txBox="1"/>
          <p:nvPr/>
        </p:nvSpPr>
        <p:spPr>
          <a:xfrm>
            <a:off x="4968964" y="4368058"/>
            <a:ext cx="3807680" cy="534150"/>
          </a:xfrm>
          <a:prstGeom prst="rect">
            <a:avLst/>
          </a:prstGeom>
          <a:noFill/>
          <a:ln>
            <a:noFill/>
          </a:ln>
        </p:spPr>
        <p:txBody>
          <a:bodyPr spcFirstLastPara="1" wrap="square" lIns="91425" tIns="91425" rIns="91425" bIns="91425" anchor="t"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fr" sz="2800" b="0" i="0" u="none" strike="noStrike" cap="none" dirty="0">
                <a:solidFill>
                  <a:schemeClr val="dk1"/>
                </a:solidFill>
                <a:latin typeface="Montserrat"/>
                <a:ea typeface="Montserrat"/>
                <a:cs typeface="Montserrat"/>
                <a:sym typeface="Montserrat"/>
              </a:rPr>
              <a:t>[</a:t>
            </a:r>
            <a:r>
              <a:rPr lang="fr" sz="2000" dirty="0">
                <a:solidFill>
                  <a:schemeClr val="dk1"/>
                </a:solidFill>
                <a:latin typeface="Montserrat"/>
                <a:ea typeface="Montserrat"/>
                <a:cs typeface="Montserrat"/>
                <a:sym typeface="Montserrat"/>
              </a:rPr>
              <a:t>02/12/2025</a:t>
            </a:r>
            <a:r>
              <a:rPr lang="fr" sz="2800" b="0" i="0" u="none" strike="noStrike" cap="none" dirty="0">
                <a:solidFill>
                  <a:schemeClr val="dk1"/>
                </a:solidFill>
                <a:latin typeface="Montserrat"/>
                <a:ea typeface="Montserrat"/>
                <a:cs typeface="Montserrat"/>
                <a:sym typeface="Montserrat"/>
              </a:rPr>
              <a:t>]</a:t>
            </a:r>
            <a:endParaRPr sz="2800" b="0" i="0" u="none" strike="noStrike" cap="none" dirty="0">
              <a:solidFill>
                <a:schemeClr val="dk1"/>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3" name="Titre 2">
            <a:extLst>
              <a:ext uri="{FF2B5EF4-FFF2-40B4-BE49-F238E27FC236}">
                <a16:creationId xmlns:a16="http://schemas.microsoft.com/office/drawing/2014/main" id="{76B683B1-E234-7B21-F05C-5831E9C5EA92}"/>
              </a:ext>
            </a:extLst>
          </p:cNvPr>
          <p:cNvSpPr>
            <a:spLocks noGrp="1"/>
          </p:cNvSpPr>
          <p:nvPr>
            <p:ph type="title"/>
          </p:nvPr>
        </p:nvSpPr>
        <p:spPr>
          <a:xfrm>
            <a:off x="188498" y="2105451"/>
            <a:ext cx="3940740" cy="1390200"/>
          </a:xfrm>
        </p:spPr>
        <p:txBody>
          <a:bodyPr>
            <a:noAutofit/>
          </a:bodyPr>
          <a:lstStyle/>
          <a:p>
            <a:r>
              <a:rPr lang="fr-FR" sz="1400" dirty="0">
                <a:solidFill>
                  <a:schemeClr val="tx1"/>
                </a:solidFill>
                <a:latin typeface="+mn-lt"/>
              </a:rPr>
              <a:t>Le stock moyen évolue de façon irrégulière au cours de la période, avec une forte hausse sur la fin d’année. Cette augmentation reflète probablement une anticipation de la demande ou un réapprovisionnement renforcé pour sécuriser les </a:t>
            </a:r>
            <a:r>
              <a:rPr lang="fr-FR" sz="1400" dirty="0">
                <a:latin typeface="+mn-lt"/>
              </a:rPr>
              <a:t>consommateurs</a:t>
            </a:r>
            <a:r>
              <a:rPr lang="fr-FR" sz="1400" dirty="0">
                <a:solidFill>
                  <a:schemeClr val="tx1"/>
                </a:solidFill>
                <a:latin typeface="+mn-lt"/>
              </a:rPr>
              <a:t>.</a:t>
            </a:r>
          </a:p>
        </p:txBody>
      </p:sp>
      <p:sp>
        <p:nvSpPr>
          <p:cNvPr id="83" name="Google Shape;83;p6"/>
          <p:cNvSpPr txBox="1">
            <a:spLocks noGrp="1"/>
          </p:cNvSpPr>
          <p:nvPr>
            <p:ph type="subTitle" idx="1"/>
          </p:nvPr>
        </p:nvSpPr>
        <p:spPr>
          <a:xfrm>
            <a:off x="2637322" y="4028870"/>
            <a:ext cx="1596376" cy="529212"/>
          </a:xfrm>
          <a:prstGeom prst="rect">
            <a:avLst/>
          </a:prstGeom>
          <a:noFill/>
          <a:ln>
            <a:noFill/>
          </a:ln>
        </p:spPr>
        <p:txBody>
          <a:bodyPr spcFirstLastPara="1" wrap="square" lIns="91425" tIns="91425" rIns="91425" bIns="91425" anchor="t" anchorCtr="0">
            <a:normAutofit fontScale="62500" lnSpcReduction="20000"/>
          </a:bodyPr>
          <a:lstStyle/>
          <a:p>
            <a:pPr marL="0" marR="0" lvl="0" indent="0" algn="l" rtl="0">
              <a:lnSpc>
                <a:spcPct val="115000"/>
              </a:lnSpc>
              <a:spcBef>
                <a:spcPts val="0"/>
              </a:spcBef>
              <a:spcAft>
                <a:spcPts val="0"/>
              </a:spcAft>
              <a:buNone/>
            </a:pPr>
            <a:r>
              <a:rPr lang="fr-FR" b="1" i="1" dirty="0">
                <a:solidFill>
                  <a:schemeClr val="tx1"/>
                </a:solidFill>
                <a:latin typeface="Montserrat"/>
                <a:ea typeface="Montserrat"/>
                <a:cs typeface="Montserrat"/>
                <a:sym typeface="Montserrat"/>
              </a:rPr>
              <a:t>Évolution: 67%</a:t>
            </a:r>
            <a:endParaRPr b="1" i="1" dirty="0">
              <a:solidFill>
                <a:schemeClr val="tx1"/>
              </a:solidFill>
              <a:latin typeface="Montserrat"/>
              <a:ea typeface="Montserrat"/>
              <a:cs typeface="Montserrat"/>
              <a:sym typeface="Montserrat"/>
            </a:endParaRPr>
          </a:p>
          <a:p>
            <a:pPr marL="0" marR="0" lvl="0" indent="0" algn="l" rtl="0">
              <a:lnSpc>
                <a:spcPct val="115000"/>
              </a:lnSpc>
              <a:spcBef>
                <a:spcPts val="0"/>
              </a:spcBef>
              <a:spcAft>
                <a:spcPts val="0"/>
              </a:spcAft>
              <a:buNone/>
            </a:pPr>
            <a:endParaRPr i="1" dirty="0">
              <a:solidFill>
                <a:srgbClr val="999999"/>
              </a:solidFill>
              <a:latin typeface="Montserrat"/>
              <a:ea typeface="Montserrat"/>
              <a:cs typeface="Montserrat"/>
              <a:sym typeface="Montserrat"/>
            </a:endParaRPr>
          </a:p>
          <a:p>
            <a:pPr marL="457200" marR="0" lvl="0" indent="0" algn="l" rtl="0">
              <a:lnSpc>
                <a:spcPct val="115000"/>
              </a:lnSpc>
              <a:spcBef>
                <a:spcPts val="0"/>
              </a:spcBef>
              <a:spcAft>
                <a:spcPts val="0"/>
              </a:spcAft>
              <a:buNone/>
            </a:pPr>
            <a:endParaRPr i="1" dirty="0">
              <a:solidFill>
                <a:srgbClr val="999999"/>
              </a:solidFill>
              <a:latin typeface="Montserrat"/>
              <a:ea typeface="Montserrat"/>
              <a:cs typeface="Montserrat"/>
              <a:sym typeface="Montserrat"/>
            </a:endParaRPr>
          </a:p>
        </p:txBody>
      </p:sp>
      <p:sp>
        <p:nvSpPr>
          <p:cNvPr id="79" name="Google Shape;79;p6"/>
          <p:cNvSpPr txBox="1">
            <a:spLocks noGrp="1"/>
          </p:cNvSpPr>
          <p:nvPr>
            <p:ph type="body" idx="2"/>
          </p:nvPr>
        </p:nvSpPr>
        <p:spPr>
          <a:xfrm>
            <a:off x="4718119" y="1648101"/>
            <a:ext cx="3837000" cy="369510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0"/>
              </a:spcAft>
              <a:buNone/>
            </a:pPr>
            <a:endParaRPr i="1" dirty="0">
              <a:solidFill>
                <a:srgbClr val="999999"/>
              </a:solidFill>
              <a:latin typeface="Montserrat"/>
              <a:ea typeface="Montserrat"/>
              <a:cs typeface="Montserrat"/>
              <a:sym typeface="Montserrat"/>
            </a:endParaRPr>
          </a:p>
          <a:p>
            <a:pPr marL="457200" marR="0" lvl="0" indent="0" algn="l" rtl="0">
              <a:lnSpc>
                <a:spcPct val="115000"/>
              </a:lnSpc>
              <a:spcBef>
                <a:spcPts val="0"/>
              </a:spcBef>
              <a:spcAft>
                <a:spcPts val="0"/>
              </a:spcAft>
              <a:buNone/>
            </a:pPr>
            <a:endParaRPr i="1" dirty="0">
              <a:solidFill>
                <a:srgbClr val="999999"/>
              </a:solidFill>
              <a:latin typeface="Montserrat"/>
              <a:ea typeface="Montserrat"/>
              <a:cs typeface="Montserrat"/>
              <a:sym typeface="Montserrat"/>
            </a:endParaRPr>
          </a:p>
        </p:txBody>
      </p:sp>
      <p:sp>
        <p:nvSpPr>
          <p:cNvPr id="80" name="Google Shape;80;p6"/>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6"/>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a:buClr>
                <a:srgbClr val="000000"/>
              </a:buClr>
              <a:buSzPts val="2500"/>
            </a:pPr>
            <a:r>
              <a:rPr lang="fr-FR" sz="2500" dirty="0">
                <a:solidFill>
                  <a:srgbClr val="F3F3F3"/>
                </a:solidFill>
                <a:latin typeface="Montserrat"/>
                <a:ea typeface="Montserrat"/>
                <a:cs typeface="Montserrat"/>
                <a:sym typeface="Montserrat"/>
              </a:rPr>
              <a:t>L’évolution du stock en quantité d’UVC</a:t>
            </a:r>
          </a:p>
          <a:p>
            <a:pPr marL="0" marR="0" lvl="0" indent="0" algn="l" rtl="0">
              <a:lnSpc>
                <a:spcPct val="100000"/>
              </a:lnSpc>
              <a:spcBef>
                <a:spcPts val="0"/>
              </a:spcBef>
              <a:spcAft>
                <a:spcPts val="0"/>
              </a:spcAft>
              <a:buClr>
                <a:srgbClr val="000000"/>
              </a:buClr>
              <a:buSzPts val="2500"/>
              <a:buFont typeface="Arial"/>
              <a:buNone/>
            </a:pPr>
            <a:endParaRPr sz="2500" dirty="0">
              <a:solidFill>
                <a:srgbClr val="F3F3F3"/>
              </a:solidFill>
              <a:latin typeface="Montserrat"/>
              <a:ea typeface="Montserrat"/>
              <a:cs typeface="Montserrat"/>
              <a:sym typeface="Montserrat"/>
            </a:endParaRPr>
          </a:p>
        </p:txBody>
      </p:sp>
      <p:sp>
        <p:nvSpPr>
          <p:cNvPr id="82" name="Google Shape;82;p6"/>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4" name="Graphique 3">
            <a:extLst>
              <a:ext uri="{FF2B5EF4-FFF2-40B4-BE49-F238E27FC236}">
                <a16:creationId xmlns:a16="http://schemas.microsoft.com/office/drawing/2014/main" id="{E287B127-BFF8-0C7D-E64E-A5403B3971C7}"/>
              </a:ext>
            </a:extLst>
          </p:cNvPr>
          <p:cNvGraphicFramePr>
            <a:graphicFrameLocks/>
          </p:cNvGraphicFramePr>
          <p:nvPr>
            <p:extLst>
              <p:ext uri="{D42A27DB-BD31-4B8C-83A1-F6EECF244321}">
                <p14:modId xmlns:p14="http://schemas.microsoft.com/office/powerpoint/2010/main" val="3184993474"/>
              </p:ext>
            </p:extLst>
          </p:nvPr>
        </p:nvGraphicFramePr>
        <p:xfrm>
          <a:off x="4572000" y="1390200"/>
          <a:ext cx="4572000" cy="3784124"/>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5"/>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p5"/>
          <p:cNvSpPr txBox="1"/>
          <p:nvPr/>
        </p:nvSpPr>
        <p:spPr>
          <a:xfrm>
            <a:off x="1238525" y="368111"/>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a:solidFill>
                  <a:srgbClr val="F3F3F3"/>
                </a:solidFill>
                <a:latin typeface="Montserrat"/>
                <a:ea typeface="Montserrat"/>
                <a:cs typeface="Montserrat"/>
                <a:sym typeface="Montserrat"/>
              </a:rPr>
              <a:t>L’évolution du prix d’achat des produits</a:t>
            </a:r>
            <a:endParaRPr sz="2500">
              <a:solidFill>
                <a:srgbClr val="F3F3F3"/>
              </a:solidFill>
              <a:latin typeface="Montserrat"/>
              <a:ea typeface="Montserrat"/>
              <a:cs typeface="Montserrat"/>
              <a:sym typeface="Montserrat"/>
            </a:endParaRPr>
          </a:p>
        </p:txBody>
      </p:sp>
      <p:sp>
        <p:nvSpPr>
          <p:cNvPr id="3" name="Titre 2">
            <a:extLst>
              <a:ext uri="{FF2B5EF4-FFF2-40B4-BE49-F238E27FC236}">
                <a16:creationId xmlns:a16="http://schemas.microsoft.com/office/drawing/2014/main" id="{A07180EE-7142-54D4-7803-3B582C40747A}"/>
              </a:ext>
            </a:extLst>
          </p:cNvPr>
          <p:cNvSpPr>
            <a:spLocks noGrp="1"/>
          </p:cNvSpPr>
          <p:nvPr>
            <p:ph type="title"/>
          </p:nvPr>
        </p:nvSpPr>
        <p:spPr>
          <a:xfrm>
            <a:off x="263400" y="1980975"/>
            <a:ext cx="3941101" cy="1923916"/>
          </a:xfrm>
        </p:spPr>
        <p:txBody>
          <a:bodyPr>
            <a:normAutofit/>
          </a:bodyPr>
          <a:lstStyle/>
          <a:p>
            <a:pPr algn="l"/>
            <a:r>
              <a:rPr lang="fr-FR" sz="1400" kern="100" dirty="0">
                <a:effectLst/>
                <a:latin typeface="Calibri" panose="020F0502020204030204" pitchFamily="34" charset="0"/>
                <a:ea typeface="Calibri" panose="020F0502020204030204" pitchFamily="34" charset="0"/>
                <a:cs typeface="Times New Roman" panose="02020603050405020304" pitchFamily="18" charset="0"/>
              </a:rPr>
              <a:t>L’analyse montre que le </a:t>
            </a:r>
            <a:r>
              <a:rPr lang="fr-FR" sz="1400" b="1" kern="100" dirty="0">
                <a:effectLst/>
                <a:latin typeface="Calibri" panose="020F0502020204030204" pitchFamily="34" charset="0"/>
                <a:ea typeface="Calibri" panose="020F0502020204030204" pitchFamily="34" charset="0"/>
                <a:cs typeface="Times New Roman" panose="02020603050405020304" pitchFamily="18" charset="0"/>
              </a:rPr>
              <a:t>prix moyen UVC</a:t>
            </a:r>
            <a:r>
              <a:rPr lang="fr-FR" sz="1400" kern="100" dirty="0">
                <a:effectLst/>
                <a:latin typeface="Calibri" panose="020F0502020204030204" pitchFamily="34" charset="0"/>
                <a:ea typeface="Calibri" panose="020F0502020204030204" pitchFamily="34" charset="0"/>
                <a:cs typeface="Times New Roman" panose="02020603050405020304" pitchFamily="18" charset="0"/>
              </a:rPr>
              <a:t> a globalement </a:t>
            </a:r>
            <a:r>
              <a:rPr lang="fr-FR" sz="1400" b="1" kern="100" dirty="0">
                <a:effectLst/>
                <a:latin typeface="Calibri" panose="020F0502020204030204" pitchFamily="34" charset="0"/>
                <a:ea typeface="Calibri" panose="020F0502020204030204" pitchFamily="34" charset="0"/>
                <a:cs typeface="Times New Roman" panose="02020603050405020304" pitchFamily="18" charset="0"/>
              </a:rPr>
              <a:t>diminué sur la période étudiée</a:t>
            </a:r>
            <a:r>
              <a:rPr lang="fr-FR" sz="1400" kern="100" dirty="0">
                <a:effectLst/>
                <a:latin typeface="Calibri" panose="020F0502020204030204" pitchFamily="34" charset="0"/>
                <a:ea typeface="Calibri" panose="020F0502020204030204" pitchFamily="34" charset="0"/>
                <a:cs typeface="Times New Roman" panose="02020603050405020304" pitchFamily="18" charset="0"/>
              </a:rPr>
              <a:t>, passant d’environ </a:t>
            </a:r>
            <a:r>
              <a:rPr lang="fr-FR" sz="1400" b="1" kern="100" dirty="0">
                <a:effectLst/>
                <a:latin typeface="Calibri" panose="020F0502020204030204" pitchFamily="34" charset="0"/>
                <a:ea typeface="Calibri" panose="020F0502020204030204" pitchFamily="34" charset="0"/>
                <a:cs typeface="Times New Roman" panose="02020603050405020304" pitchFamily="18" charset="0"/>
              </a:rPr>
              <a:t>30,18 €</a:t>
            </a:r>
            <a:r>
              <a:rPr lang="fr-FR" sz="1400" kern="100" dirty="0">
                <a:effectLst/>
                <a:latin typeface="Calibri" panose="020F0502020204030204" pitchFamily="34" charset="0"/>
                <a:ea typeface="Calibri" panose="020F0502020204030204" pitchFamily="34" charset="0"/>
                <a:cs typeface="Times New Roman" panose="02020603050405020304" pitchFamily="18" charset="0"/>
              </a:rPr>
              <a:t> au premier mois à </a:t>
            </a:r>
            <a:r>
              <a:rPr lang="fr-FR" sz="1400" b="1" kern="100" dirty="0">
                <a:effectLst/>
                <a:latin typeface="Calibri" panose="020F0502020204030204" pitchFamily="34" charset="0"/>
                <a:ea typeface="Calibri" panose="020F0502020204030204" pitchFamily="34" charset="0"/>
                <a:cs typeface="Times New Roman" panose="02020603050405020304" pitchFamily="18" charset="0"/>
              </a:rPr>
              <a:t>27,33 €</a:t>
            </a:r>
            <a:r>
              <a:rPr lang="fr-FR" sz="1400" kern="100" dirty="0">
                <a:effectLst/>
                <a:latin typeface="Calibri" panose="020F0502020204030204" pitchFamily="34" charset="0"/>
                <a:ea typeface="Calibri" panose="020F0502020204030204" pitchFamily="34" charset="0"/>
                <a:cs typeface="Times New Roman" panose="02020603050405020304" pitchFamily="18" charset="0"/>
              </a:rPr>
              <a:t> au dernier mois.</a:t>
            </a:r>
            <a:br>
              <a:rPr lang="fr-FR" sz="1400" kern="100" dirty="0">
                <a:effectLst/>
                <a:latin typeface="Calibri" panose="020F0502020204030204" pitchFamily="34" charset="0"/>
                <a:ea typeface="Calibri" panose="020F0502020204030204" pitchFamily="34" charset="0"/>
                <a:cs typeface="Times New Roman" panose="02020603050405020304" pitchFamily="18" charset="0"/>
              </a:rPr>
            </a:br>
            <a:r>
              <a:rPr lang="fr-FR" sz="1400" kern="100" dirty="0">
                <a:effectLst/>
                <a:latin typeface="Calibri" panose="020F0502020204030204" pitchFamily="34" charset="0"/>
                <a:ea typeface="Calibri" panose="020F0502020204030204" pitchFamily="34" charset="0"/>
                <a:cs typeface="Times New Roman" panose="02020603050405020304" pitchFamily="18" charset="0"/>
              </a:rPr>
              <a:t>Cela représente une </a:t>
            </a:r>
            <a:r>
              <a:rPr lang="fr-FR" sz="1400" b="1" kern="100" dirty="0">
                <a:effectLst/>
                <a:latin typeface="Calibri" panose="020F0502020204030204" pitchFamily="34" charset="0"/>
                <a:ea typeface="Calibri" panose="020F0502020204030204" pitchFamily="34" charset="0"/>
                <a:cs typeface="Times New Roman" panose="02020603050405020304" pitchFamily="18" charset="0"/>
              </a:rPr>
              <a:t>baisse de –10 %</a:t>
            </a:r>
            <a:r>
              <a:rPr lang="fr-FR" sz="1400" kern="100" dirty="0">
                <a:effectLst/>
                <a:latin typeface="Calibri" panose="020F0502020204030204" pitchFamily="34" charset="0"/>
                <a:ea typeface="Calibri" panose="020F0502020204030204" pitchFamily="34" charset="0"/>
                <a:cs typeface="Times New Roman" panose="02020603050405020304" pitchFamily="18" charset="0"/>
              </a:rPr>
              <a:t>.</a:t>
            </a:r>
            <a:br>
              <a:rPr lang="fr-FR" sz="1400" kern="100" dirty="0">
                <a:effectLst/>
                <a:latin typeface="Calibri" panose="020F0502020204030204" pitchFamily="34" charset="0"/>
                <a:ea typeface="Calibri" panose="020F0502020204030204" pitchFamily="34" charset="0"/>
                <a:cs typeface="Times New Roman" panose="02020603050405020304" pitchFamily="18" charset="0"/>
              </a:rPr>
            </a:br>
            <a:r>
              <a:rPr lang="fr-FR" sz="1400" dirty="0">
                <a:effectLst/>
                <a:latin typeface="Calibri" panose="020F0502020204030204" pitchFamily="34" charset="0"/>
                <a:ea typeface="Calibri" panose="020F0502020204030204" pitchFamily="34" charset="0"/>
                <a:cs typeface="Times New Roman" panose="02020603050405020304" pitchFamily="18" charset="0"/>
              </a:rPr>
              <a:t>Même si le prix UVC baisse, on observe parallèlement que la </a:t>
            </a:r>
            <a:r>
              <a:rPr lang="fr-FR" sz="1400" b="1" dirty="0">
                <a:effectLst/>
                <a:latin typeface="Calibri" panose="020F0502020204030204" pitchFamily="34" charset="0"/>
                <a:ea typeface="Calibri" panose="020F0502020204030204" pitchFamily="34" charset="0"/>
                <a:cs typeface="Times New Roman" panose="02020603050405020304" pitchFamily="18" charset="0"/>
              </a:rPr>
              <a:t>valeur du stock a augmenté dans d’autres analyses</a:t>
            </a:r>
            <a:endParaRPr lang="fr-FR" sz="1400" dirty="0"/>
          </a:p>
        </p:txBody>
      </p:sp>
      <p:sp>
        <p:nvSpPr>
          <p:cNvPr id="74" name="Google Shape;74;p5"/>
          <p:cNvSpPr txBox="1">
            <a:spLocks noGrp="1"/>
          </p:cNvSpPr>
          <p:nvPr>
            <p:ph type="subTitle" idx="1"/>
          </p:nvPr>
        </p:nvSpPr>
        <p:spPr>
          <a:xfrm>
            <a:off x="3608818" y="4495666"/>
            <a:ext cx="703891" cy="559445"/>
          </a:xfrm>
          <a:prstGeom prst="rect">
            <a:avLst/>
          </a:prstGeom>
          <a:noFill/>
          <a:ln>
            <a:noFill/>
          </a:ln>
        </p:spPr>
        <p:txBody>
          <a:bodyPr spcFirstLastPara="1" wrap="square" lIns="91425" tIns="91425" rIns="91425" bIns="91425" anchor="t" anchorCtr="0">
            <a:normAutofit fontScale="77500" lnSpcReduction="20000"/>
          </a:bodyPr>
          <a:lstStyle/>
          <a:p>
            <a:pPr marL="0" marR="0" lvl="0" indent="0" algn="l" rtl="0">
              <a:lnSpc>
                <a:spcPct val="115000"/>
              </a:lnSpc>
              <a:spcBef>
                <a:spcPts val="0"/>
              </a:spcBef>
              <a:spcAft>
                <a:spcPts val="0"/>
              </a:spcAft>
              <a:buNone/>
            </a:pPr>
            <a:r>
              <a:rPr lang="fr-FR" b="1" i="1" dirty="0">
                <a:solidFill>
                  <a:schemeClr val="tx1"/>
                </a:solidFill>
                <a:latin typeface="Montserrat"/>
                <a:ea typeface="Montserrat"/>
                <a:cs typeface="Montserrat"/>
                <a:sym typeface="Montserrat"/>
              </a:rPr>
              <a:t>-10%</a:t>
            </a:r>
            <a:endParaRPr b="1" i="1" dirty="0">
              <a:solidFill>
                <a:schemeClr val="tx1"/>
              </a:solidFill>
              <a:latin typeface="Montserrat"/>
              <a:ea typeface="Montserrat"/>
              <a:cs typeface="Montserrat"/>
              <a:sym typeface="Montserrat"/>
            </a:endParaRPr>
          </a:p>
          <a:p>
            <a:pPr marL="457200" marR="0" lvl="0" indent="0" algn="l" rtl="0">
              <a:lnSpc>
                <a:spcPct val="115000"/>
              </a:lnSpc>
              <a:spcBef>
                <a:spcPts val="0"/>
              </a:spcBef>
              <a:spcAft>
                <a:spcPts val="0"/>
              </a:spcAft>
              <a:buNone/>
            </a:pPr>
            <a:endParaRPr i="1" dirty="0">
              <a:solidFill>
                <a:srgbClr val="999999"/>
              </a:solidFill>
              <a:latin typeface="Montserrat"/>
              <a:ea typeface="Montserrat"/>
              <a:cs typeface="Montserrat"/>
              <a:sym typeface="Montserrat"/>
            </a:endParaRPr>
          </a:p>
        </p:txBody>
      </p:sp>
      <p:sp>
        <p:nvSpPr>
          <p:cNvPr id="73" name="Google Shape;73;p5"/>
          <p:cNvSpPr txBox="1">
            <a:spLocks noGrp="1"/>
          </p:cNvSpPr>
          <p:nvPr>
            <p:ph type="body" idx="2"/>
          </p:nvPr>
        </p:nvSpPr>
        <p:spPr>
          <a:xfrm>
            <a:off x="4939500" y="1603331"/>
            <a:ext cx="3837000" cy="2815843"/>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0"/>
              </a:spcAft>
              <a:buNone/>
            </a:pPr>
            <a:endParaRPr i="1" dirty="0">
              <a:solidFill>
                <a:srgbClr val="999999"/>
              </a:solidFill>
              <a:latin typeface="Montserrat"/>
              <a:ea typeface="Montserrat"/>
              <a:cs typeface="Montserrat"/>
              <a:sym typeface="Montserrat"/>
            </a:endParaRPr>
          </a:p>
          <a:p>
            <a:pPr marL="457200" marR="0" lvl="0" indent="0" algn="l" rtl="0">
              <a:lnSpc>
                <a:spcPct val="115000"/>
              </a:lnSpc>
              <a:spcBef>
                <a:spcPts val="0"/>
              </a:spcBef>
              <a:spcAft>
                <a:spcPts val="0"/>
              </a:spcAft>
              <a:buNone/>
            </a:pPr>
            <a:endParaRPr i="1" dirty="0">
              <a:solidFill>
                <a:srgbClr val="999999"/>
              </a:solidFill>
              <a:latin typeface="Montserrat"/>
              <a:ea typeface="Montserrat"/>
              <a:cs typeface="Montserrat"/>
              <a:sym typeface="Montserrat"/>
            </a:endParaRPr>
          </a:p>
        </p:txBody>
      </p:sp>
      <p:graphicFrame>
        <p:nvGraphicFramePr>
          <p:cNvPr id="4" name="Graphique 3">
            <a:extLst>
              <a:ext uri="{FF2B5EF4-FFF2-40B4-BE49-F238E27FC236}">
                <a16:creationId xmlns:a16="http://schemas.microsoft.com/office/drawing/2014/main" id="{7CA74EFD-6B86-85C1-DF16-78F927797B59}"/>
              </a:ext>
            </a:extLst>
          </p:cNvPr>
          <p:cNvGraphicFramePr>
            <a:graphicFrameLocks/>
          </p:cNvGraphicFramePr>
          <p:nvPr>
            <p:extLst>
              <p:ext uri="{D42A27DB-BD31-4B8C-83A1-F6EECF244321}">
                <p14:modId xmlns:p14="http://schemas.microsoft.com/office/powerpoint/2010/main" val="96562913"/>
              </p:ext>
            </p:extLst>
          </p:nvPr>
        </p:nvGraphicFramePr>
        <p:xfrm>
          <a:off x="4939500" y="1390199"/>
          <a:ext cx="3577709" cy="3607686"/>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3000"/>
                <a:satMod val="150000"/>
                <a:shade val="98000"/>
                <a:lumMod val="102000"/>
              </a:schemeClr>
            </a:gs>
            <a:gs pos="94000">
              <a:schemeClr val="bg2">
                <a:tint val="98000"/>
                <a:satMod val="130000"/>
                <a:shade val="90000"/>
                <a:lumMod val="103000"/>
              </a:schemeClr>
            </a:gs>
            <a:gs pos="100000">
              <a:schemeClr val="bg2">
                <a:shade val="63000"/>
                <a:satMod val="120000"/>
              </a:schemeClr>
            </a:gs>
          </a:gsLst>
          <a:lin ang="5400000" scaled="0"/>
        </a:gradFill>
        <a:effectLst/>
      </p:bgPr>
    </p:bg>
    <p:spTree>
      <p:nvGrpSpPr>
        <p:cNvPr id="1" name="Shape 60"/>
        <p:cNvGrpSpPr/>
        <p:nvPr/>
      </p:nvGrpSpPr>
      <p:grpSpPr>
        <a:xfrm>
          <a:off x="0" y="0"/>
          <a:ext cx="0" cy="0"/>
          <a:chOff x="0" y="0"/>
          <a:chExt cx="0" cy="0"/>
        </a:xfrm>
      </p:grpSpPr>
      <p:sp>
        <p:nvSpPr>
          <p:cNvPr id="61" name="Google Shape;61;p4"/>
          <p:cNvSpPr/>
          <p:nvPr/>
        </p:nvSpPr>
        <p:spPr>
          <a:xfrm>
            <a:off x="0" y="-211025"/>
            <a:ext cx="9144000" cy="1390200"/>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highlight>
                <a:srgbClr val="B6D7A8"/>
              </a:highlight>
              <a:latin typeface="Arial"/>
              <a:ea typeface="Arial"/>
              <a:cs typeface="Arial"/>
              <a:sym typeface="Arial"/>
            </a:endParaRPr>
          </a:p>
        </p:txBody>
      </p:sp>
      <p:sp>
        <p:nvSpPr>
          <p:cNvPr id="62" name="Google Shape;62;p4"/>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a:buClr>
                <a:srgbClr val="000000"/>
              </a:buClr>
              <a:buSzPts val="2500"/>
            </a:pPr>
            <a:r>
              <a:rPr lang="fr-FR" sz="2500" dirty="0">
                <a:solidFill>
                  <a:srgbClr val="F3F3F3"/>
                </a:solidFill>
                <a:latin typeface="Montserrat"/>
                <a:ea typeface="Montserrat"/>
                <a:cs typeface="Montserrat"/>
                <a:sym typeface="Montserrat"/>
              </a:rPr>
              <a:t>L’évolution du nombre de produits stockés</a:t>
            </a:r>
          </a:p>
          <a:p>
            <a:pPr marL="0" marR="0" lvl="0" indent="0" algn="l" rtl="0">
              <a:lnSpc>
                <a:spcPct val="100000"/>
              </a:lnSpc>
              <a:spcBef>
                <a:spcPts val="0"/>
              </a:spcBef>
              <a:spcAft>
                <a:spcPts val="0"/>
              </a:spcAft>
              <a:buClr>
                <a:srgbClr val="000000"/>
              </a:buClr>
              <a:buSzPts val="2500"/>
              <a:buFont typeface="Arial"/>
              <a:buNone/>
            </a:pPr>
            <a:endParaRPr sz="2500" dirty="0">
              <a:solidFill>
                <a:srgbClr val="F3F3F3"/>
              </a:solidFill>
              <a:latin typeface="Montserrat"/>
              <a:ea typeface="Montserrat"/>
              <a:cs typeface="Montserrat"/>
              <a:sym typeface="Montserrat"/>
            </a:endParaRPr>
          </a:p>
        </p:txBody>
      </p:sp>
      <p:sp>
        <p:nvSpPr>
          <p:cNvPr id="63" name="Google Shape;63;p4"/>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Titre 1">
            <a:extLst>
              <a:ext uri="{FF2B5EF4-FFF2-40B4-BE49-F238E27FC236}">
                <a16:creationId xmlns:a16="http://schemas.microsoft.com/office/drawing/2014/main" id="{A98E1849-470E-ACF1-7979-570065C8727C}"/>
              </a:ext>
            </a:extLst>
          </p:cNvPr>
          <p:cNvSpPr>
            <a:spLocks noGrp="1"/>
          </p:cNvSpPr>
          <p:nvPr>
            <p:ph type="title"/>
          </p:nvPr>
        </p:nvSpPr>
        <p:spPr>
          <a:xfrm>
            <a:off x="130650" y="2136808"/>
            <a:ext cx="4310700" cy="1168820"/>
          </a:xfrm>
        </p:spPr>
        <p:txBody>
          <a:bodyPr>
            <a:normAutofit fontScale="90000"/>
          </a:bodyPr>
          <a:lstStyle/>
          <a:p>
            <a:r>
              <a:rPr lang="fr-FR" sz="1400" dirty="0">
                <a:solidFill>
                  <a:schemeClr val="tx1"/>
                </a:solidFill>
                <a:latin typeface="+mn-lt"/>
              </a:rPr>
              <a:t>Le nombre de références disponibles chaque mois reste globalement stable, avec une légère baisse d’environ -8 % sur la période. Cette diminution peut refléter des ruptures ponctuelles ou l’ajustement de l’assortiment pour optimiser l’approvisionnement en restauration rapide.</a:t>
            </a:r>
          </a:p>
        </p:txBody>
      </p:sp>
      <p:sp>
        <p:nvSpPr>
          <p:cNvPr id="65" name="Google Shape;65;p4"/>
          <p:cNvSpPr txBox="1">
            <a:spLocks noGrp="1"/>
          </p:cNvSpPr>
          <p:nvPr>
            <p:ph type="subTitle" idx="1"/>
          </p:nvPr>
        </p:nvSpPr>
        <p:spPr>
          <a:xfrm>
            <a:off x="498150" y="3908400"/>
            <a:ext cx="772385" cy="538472"/>
          </a:xfrm>
          <a:prstGeom prst="rect">
            <a:avLst/>
          </a:prstGeom>
          <a:noFill/>
          <a:ln>
            <a:noFill/>
          </a:ln>
        </p:spPr>
        <p:txBody>
          <a:bodyPr spcFirstLastPara="1" wrap="square" lIns="91425" tIns="91425" rIns="91425" bIns="91425" anchor="t" anchorCtr="0">
            <a:normAutofit lnSpcReduction="10000"/>
          </a:bodyPr>
          <a:lstStyle/>
          <a:p>
            <a:pPr marL="0" marR="0" lvl="0" indent="0" algn="l" rtl="0">
              <a:lnSpc>
                <a:spcPct val="115000"/>
              </a:lnSpc>
              <a:spcBef>
                <a:spcPts val="0"/>
              </a:spcBef>
              <a:spcAft>
                <a:spcPts val="0"/>
              </a:spcAft>
              <a:buNone/>
            </a:pPr>
            <a:r>
              <a:rPr lang="fr-FR" b="1" i="1" dirty="0">
                <a:solidFill>
                  <a:schemeClr val="tx1"/>
                </a:solidFill>
                <a:latin typeface="Montserrat"/>
                <a:ea typeface="Montserrat"/>
                <a:cs typeface="Montserrat"/>
                <a:sym typeface="Montserrat"/>
              </a:rPr>
              <a:t>-8%</a:t>
            </a:r>
            <a:endParaRPr b="1" i="1" dirty="0">
              <a:solidFill>
                <a:schemeClr val="tx1"/>
              </a:solidFill>
              <a:latin typeface="Montserrat"/>
              <a:ea typeface="Montserrat"/>
              <a:cs typeface="Montserrat"/>
              <a:sym typeface="Montserrat"/>
            </a:endParaRPr>
          </a:p>
          <a:p>
            <a:pPr marL="457200" marR="0" lvl="0" indent="0" algn="l" rtl="0">
              <a:lnSpc>
                <a:spcPct val="115000"/>
              </a:lnSpc>
              <a:spcBef>
                <a:spcPts val="0"/>
              </a:spcBef>
              <a:spcAft>
                <a:spcPts val="0"/>
              </a:spcAft>
              <a:buNone/>
            </a:pPr>
            <a:endParaRPr i="1" dirty="0">
              <a:solidFill>
                <a:srgbClr val="999999"/>
              </a:solidFill>
              <a:latin typeface="Montserrat"/>
              <a:ea typeface="Montserrat"/>
              <a:cs typeface="Montserrat"/>
              <a:sym typeface="Montserrat"/>
            </a:endParaRPr>
          </a:p>
        </p:txBody>
      </p:sp>
      <p:sp>
        <p:nvSpPr>
          <p:cNvPr id="64" name="Google Shape;64;p4"/>
          <p:cNvSpPr txBox="1">
            <a:spLocks noGrp="1"/>
          </p:cNvSpPr>
          <p:nvPr>
            <p:ph type="body" idx="2"/>
          </p:nvPr>
        </p:nvSpPr>
        <p:spPr>
          <a:xfrm>
            <a:off x="4808850" y="1448400"/>
            <a:ext cx="3837000" cy="369510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0"/>
              </a:spcAft>
              <a:buNone/>
            </a:pPr>
            <a:endParaRPr i="1" dirty="0">
              <a:solidFill>
                <a:srgbClr val="999999"/>
              </a:solidFill>
              <a:latin typeface="Montserrat"/>
              <a:ea typeface="Montserrat"/>
              <a:cs typeface="Montserrat"/>
              <a:sym typeface="Montserrat"/>
            </a:endParaRPr>
          </a:p>
          <a:p>
            <a:pPr marL="457200" marR="0" lvl="0" indent="0" algn="l" rtl="0">
              <a:lnSpc>
                <a:spcPct val="115000"/>
              </a:lnSpc>
              <a:spcBef>
                <a:spcPts val="0"/>
              </a:spcBef>
              <a:spcAft>
                <a:spcPts val="0"/>
              </a:spcAft>
              <a:buNone/>
            </a:pPr>
            <a:endParaRPr i="1" dirty="0">
              <a:solidFill>
                <a:srgbClr val="999999"/>
              </a:solidFill>
              <a:latin typeface="Montserrat"/>
              <a:ea typeface="Montserrat"/>
              <a:cs typeface="Montserrat"/>
              <a:sym typeface="Montserrat"/>
            </a:endParaRPr>
          </a:p>
        </p:txBody>
      </p:sp>
      <p:graphicFrame>
        <p:nvGraphicFramePr>
          <p:cNvPr id="3" name="Graphique 2">
            <a:extLst>
              <a:ext uri="{FF2B5EF4-FFF2-40B4-BE49-F238E27FC236}">
                <a16:creationId xmlns:a16="http://schemas.microsoft.com/office/drawing/2014/main" id="{5EC4714D-23B7-3467-8378-A08DAEDBFFB7}"/>
              </a:ext>
            </a:extLst>
          </p:cNvPr>
          <p:cNvGraphicFramePr>
            <a:graphicFrameLocks/>
          </p:cNvGraphicFramePr>
          <p:nvPr>
            <p:extLst>
              <p:ext uri="{D42A27DB-BD31-4B8C-83A1-F6EECF244321}">
                <p14:modId xmlns:p14="http://schemas.microsoft.com/office/powerpoint/2010/main" val="2198930897"/>
              </p:ext>
            </p:extLst>
          </p:nvPr>
        </p:nvGraphicFramePr>
        <p:xfrm>
          <a:off x="4572000" y="1727450"/>
          <a:ext cx="4441350" cy="2854242"/>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7"/>
          <p:cNvSpPr/>
          <p:nvPr/>
        </p:nvSpPr>
        <p:spPr>
          <a:xfrm>
            <a:off x="0" y="15016"/>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7"/>
          <p:cNvSpPr txBox="1"/>
          <p:nvPr/>
        </p:nvSpPr>
        <p:spPr>
          <a:xfrm>
            <a:off x="895525" y="337250"/>
            <a:ext cx="8248500" cy="572700"/>
          </a:xfrm>
          <a:prstGeom prst="rect">
            <a:avLst/>
          </a:prstGeom>
          <a:noFill/>
          <a:ln>
            <a:noFill/>
          </a:ln>
        </p:spPr>
        <p:txBody>
          <a:bodyPr spcFirstLastPara="1" wrap="square" lIns="91425" tIns="91425" rIns="91425" bIns="91425" anchor="t" anchorCtr="0">
            <a:normAutofit fontScale="92500"/>
          </a:bodyPr>
          <a:lstStyle/>
          <a:p>
            <a:pPr marL="0" marR="0" lvl="0" indent="0" algn="l" rtl="0">
              <a:lnSpc>
                <a:spcPct val="100000"/>
              </a:lnSpc>
              <a:spcBef>
                <a:spcPts val="0"/>
              </a:spcBef>
              <a:spcAft>
                <a:spcPts val="0"/>
              </a:spcAft>
              <a:buClr>
                <a:srgbClr val="000000"/>
              </a:buClr>
              <a:buSzPct val="100000"/>
              <a:buFont typeface="Arial"/>
              <a:buNone/>
            </a:pPr>
            <a:r>
              <a:rPr lang="fr" sz="2500" dirty="0">
                <a:solidFill>
                  <a:srgbClr val="F3F3F3"/>
                </a:solidFill>
                <a:latin typeface="Montserrat"/>
                <a:ea typeface="Montserrat"/>
                <a:cs typeface="Montserrat"/>
                <a:sym typeface="Montserrat"/>
              </a:rPr>
              <a:t>L’évolution des quantités réceptionnées &amp; expédiées</a:t>
            </a:r>
            <a:endParaRPr sz="2500" dirty="0">
              <a:solidFill>
                <a:srgbClr val="F3F3F3"/>
              </a:solidFill>
              <a:latin typeface="Montserrat"/>
              <a:ea typeface="Montserrat"/>
              <a:cs typeface="Montserrat"/>
              <a:sym typeface="Montserrat"/>
            </a:endParaRPr>
          </a:p>
        </p:txBody>
      </p:sp>
      <p:sp>
        <p:nvSpPr>
          <p:cNvPr id="90" name="Google Shape;90;p7"/>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 name="Titre 2">
            <a:extLst>
              <a:ext uri="{FF2B5EF4-FFF2-40B4-BE49-F238E27FC236}">
                <a16:creationId xmlns:a16="http://schemas.microsoft.com/office/drawing/2014/main" id="{C50A44B5-D6F0-8CE1-F0D9-2B0481C22D1B}"/>
              </a:ext>
            </a:extLst>
          </p:cNvPr>
          <p:cNvSpPr>
            <a:spLocks noGrp="1"/>
          </p:cNvSpPr>
          <p:nvPr>
            <p:ph type="title"/>
          </p:nvPr>
        </p:nvSpPr>
        <p:spPr>
          <a:xfrm>
            <a:off x="125131" y="1896177"/>
            <a:ext cx="4140552" cy="2014481"/>
          </a:xfrm>
        </p:spPr>
        <p:txBody>
          <a:bodyPr>
            <a:normAutofit fontScale="90000"/>
          </a:bodyPr>
          <a:lstStyle/>
          <a:p>
            <a:r>
              <a:rPr lang="fr-FR" sz="1600" b="0" i="0" u="none" strike="noStrike" dirty="0">
                <a:solidFill>
                  <a:srgbClr val="000000"/>
                </a:solidFill>
                <a:effectLst/>
                <a:latin typeface="+mn-lt"/>
              </a:rPr>
              <a:t>Le graphique montre une forte chute des expéditions en juillet, suivie d’une remontée rapide et durable dès août. Sur l’ensemble de la période, les expéditions restent régulièrement supérieures aux réceptions, ce qui provoque un déstockage continu.</a:t>
            </a:r>
            <a:br>
              <a:rPr lang="fr-FR" sz="1600" b="0" i="0" u="none" strike="noStrike" dirty="0">
                <a:solidFill>
                  <a:srgbClr val="000000"/>
                </a:solidFill>
                <a:effectLst/>
                <a:latin typeface="+mn-lt"/>
              </a:rPr>
            </a:br>
            <a:r>
              <a:rPr lang="fr-FR" sz="1600" b="0" i="0" u="none" strike="noStrike" dirty="0">
                <a:solidFill>
                  <a:srgbClr val="000000"/>
                </a:solidFill>
                <a:effectLst/>
                <a:latin typeface="+mn-lt"/>
              </a:rPr>
              <a:t>Cette situation indique que l’entreprise s’appuie sur un </a:t>
            </a:r>
            <a:r>
              <a:rPr lang="fr-FR" sz="1600" b="1" i="0" u="none" strike="noStrike" dirty="0">
                <a:solidFill>
                  <a:srgbClr val="000000"/>
                </a:solidFill>
                <a:effectLst/>
                <a:latin typeface="+mn-lt"/>
              </a:rPr>
              <a:t>stock existant </a:t>
            </a:r>
            <a:r>
              <a:rPr lang="fr-FR" sz="1600" b="0" i="0" u="none" strike="noStrike" dirty="0">
                <a:solidFill>
                  <a:srgbClr val="000000"/>
                </a:solidFill>
                <a:effectLst/>
                <a:latin typeface="+mn-lt"/>
              </a:rPr>
              <a:t>pour absorber les variations d’activité. </a:t>
            </a:r>
            <a:br>
              <a:rPr lang="fr-FR" sz="800" b="0" i="0" u="none" strike="noStrike" dirty="0">
                <a:solidFill>
                  <a:srgbClr val="000000"/>
                </a:solidFill>
                <a:effectLst/>
              </a:rPr>
            </a:br>
            <a:endParaRPr lang="fr-FR" sz="1200" dirty="0"/>
          </a:p>
        </p:txBody>
      </p:sp>
      <p:sp>
        <p:nvSpPr>
          <p:cNvPr id="92" name="Google Shape;92;p7"/>
          <p:cNvSpPr txBox="1">
            <a:spLocks noGrp="1"/>
          </p:cNvSpPr>
          <p:nvPr>
            <p:ph type="subTitle" idx="1"/>
          </p:nvPr>
        </p:nvSpPr>
        <p:spPr>
          <a:xfrm>
            <a:off x="-85945" y="3946359"/>
            <a:ext cx="1780674" cy="1182126"/>
          </a:xfrm>
          <a:prstGeom prst="rect">
            <a:avLst/>
          </a:prstGeom>
          <a:noFill/>
          <a:ln>
            <a:noFill/>
          </a:ln>
        </p:spPr>
        <p:txBody>
          <a:bodyPr spcFirstLastPara="1" wrap="square" lIns="91425" tIns="91425" rIns="91425" bIns="91425" anchor="t" anchorCtr="0">
            <a:normAutofit/>
          </a:bodyPr>
          <a:lstStyle/>
          <a:p>
            <a:pPr marL="0" lvl="0" indent="0">
              <a:lnSpc>
                <a:spcPct val="115000"/>
              </a:lnSpc>
            </a:pPr>
            <a:r>
              <a:rPr lang="fr-FR" sz="1200" b="1" dirty="0">
                <a:solidFill>
                  <a:schemeClr val="tx1"/>
                </a:solidFill>
                <a:latin typeface="Montserrat"/>
                <a:ea typeface="Montserrat"/>
                <a:cs typeface="Montserrat"/>
                <a:sym typeface="Montserrat"/>
              </a:rPr>
              <a:t>Évolution des quantité réceptionnées: 20%</a:t>
            </a:r>
            <a:endParaRPr sz="1200" b="1" dirty="0">
              <a:solidFill>
                <a:schemeClr val="tx1"/>
              </a:solidFill>
              <a:latin typeface="Montserrat"/>
              <a:ea typeface="Montserrat"/>
              <a:cs typeface="Montserrat"/>
              <a:sym typeface="Montserrat"/>
            </a:endParaRPr>
          </a:p>
          <a:p>
            <a:pPr marL="0" marR="0" lvl="0" indent="0" algn="l" rtl="0">
              <a:lnSpc>
                <a:spcPct val="115000"/>
              </a:lnSpc>
              <a:spcBef>
                <a:spcPts val="0"/>
              </a:spcBef>
              <a:spcAft>
                <a:spcPts val="0"/>
              </a:spcAft>
              <a:buNone/>
            </a:pPr>
            <a:endParaRPr i="1" dirty="0">
              <a:solidFill>
                <a:srgbClr val="999999"/>
              </a:solidFill>
              <a:latin typeface="Montserrat"/>
              <a:ea typeface="Montserrat"/>
              <a:cs typeface="Montserrat"/>
              <a:sym typeface="Montserrat"/>
            </a:endParaRPr>
          </a:p>
          <a:p>
            <a:pPr marL="457200" marR="0" lvl="0" indent="0" algn="l" rtl="0">
              <a:lnSpc>
                <a:spcPct val="115000"/>
              </a:lnSpc>
              <a:spcBef>
                <a:spcPts val="0"/>
              </a:spcBef>
              <a:spcAft>
                <a:spcPts val="0"/>
              </a:spcAft>
              <a:buNone/>
            </a:pPr>
            <a:endParaRPr i="1" dirty="0">
              <a:solidFill>
                <a:srgbClr val="999999"/>
              </a:solidFill>
              <a:latin typeface="Montserrat"/>
              <a:ea typeface="Montserrat"/>
              <a:cs typeface="Montserrat"/>
              <a:sym typeface="Montserrat"/>
            </a:endParaRPr>
          </a:p>
        </p:txBody>
      </p:sp>
      <p:sp>
        <p:nvSpPr>
          <p:cNvPr id="93" name="Google Shape;93;p7"/>
          <p:cNvSpPr txBox="1">
            <a:spLocks noGrp="1"/>
          </p:cNvSpPr>
          <p:nvPr>
            <p:ph type="body" idx="2"/>
          </p:nvPr>
        </p:nvSpPr>
        <p:spPr>
          <a:xfrm>
            <a:off x="3345656" y="4014428"/>
            <a:ext cx="1054778" cy="715513"/>
          </a:xfrm>
          <a:prstGeom prst="rect">
            <a:avLst/>
          </a:prstGeom>
          <a:noFill/>
          <a:ln>
            <a:noFill/>
          </a:ln>
        </p:spPr>
        <p:txBody>
          <a:bodyPr spcFirstLastPara="1" wrap="square" lIns="91425" tIns="91425" rIns="91425" bIns="91425" anchor="t" anchorCtr="0">
            <a:noAutofit/>
          </a:bodyPr>
          <a:lstStyle/>
          <a:p>
            <a:pPr marL="0" marR="0" lvl="0" indent="0" algn="l" rtl="0">
              <a:lnSpc>
                <a:spcPct val="105000"/>
              </a:lnSpc>
              <a:spcBef>
                <a:spcPts val="0"/>
              </a:spcBef>
              <a:spcAft>
                <a:spcPts val="0"/>
              </a:spcAft>
              <a:buSzPts val="770"/>
              <a:buNone/>
            </a:pPr>
            <a:r>
              <a:rPr lang="fr-FR" sz="1360" b="1" i="1" dirty="0">
                <a:solidFill>
                  <a:schemeClr val="tx1"/>
                </a:solidFill>
                <a:latin typeface="Montserrat"/>
                <a:ea typeface="Montserrat"/>
                <a:cs typeface="Montserrat"/>
                <a:sym typeface="Montserrat"/>
              </a:rPr>
              <a:t>Écart Total:</a:t>
            </a:r>
          </a:p>
          <a:p>
            <a:pPr marL="0" marR="0" lvl="0" indent="0" algn="l" rtl="0">
              <a:lnSpc>
                <a:spcPct val="105000"/>
              </a:lnSpc>
              <a:spcBef>
                <a:spcPts val="0"/>
              </a:spcBef>
              <a:spcAft>
                <a:spcPts val="0"/>
              </a:spcAft>
              <a:buSzPts val="770"/>
              <a:buNone/>
            </a:pPr>
            <a:r>
              <a:rPr lang="fr-FR" sz="1360" b="1" i="1" dirty="0">
                <a:solidFill>
                  <a:schemeClr val="tx1"/>
                </a:solidFill>
                <a:latin typeface="Montserrat"/>
                <a:ea typeface="Montserrat"/>
                <a:cs typeface="Montserrat"/>
                <a:sym typeface="Montserrat"/>
              </a:rPr>
              <a:t>-99470</a:t>
            </a:r>
            <a:endParaRPr sz="1360" b="1" i="1" dirty="0">
              <a:solidFill>
                <a:schemeClr val="tx1"/>
              </a:solidFill>
              <a:latin typeface="Montserrat"/>
              <a:ea typeface="Montserrat"/>
              <a:cs typeface="Montserrat"/>
              <a:sym typeface="Montserrat"/>
            </a:endParaRPr>
          </a:p>
          <a:p>
            <a:pPr marL="457200" marR="0" lvl="0" indent="0" algn="l" rtl="0">
              <a:lnSpc>
                <a:spcPct val="105000"/>
              </a:lnSpc>
              <a:spcBef>
                <a:spcPts val="0"/>
              </a:spcBef>
              <a:spcAft>
                <a:spcPts val="0"/>
              </a:spcAft>
              <a:buSzPts val="770"/>
              <a:buNone/>
            </a:pPr>
            <a:endParaRPr sz="1360" i="1" dirty="0">
              <a:solidFill>
                <a:srgbClr val="999999"/>
              </a:solidFill>
              <a:latin typeface="Montserrat"/>
              <a:ea typeface="Montserrat"/>
              <a:cs typeface="Montserrat"/>
              <a:sym typeface="Montserrat"/>
            </a:endParaRPr>
          </a:p>
        </p:txBody>
      </p:sp>
      <p:sp>
        <p:nvSpPr>
          <p:cNvPr id="94" name="Google Shape;94;p7"/>
          <p:cNvSpPr txBox="1">
            <a:spLocks noGrp="1"/>
          </p:cNvSpPr>
          <p:nvPr>
            <p:ph type="body" idx="4294967295"/>
          </p:nvPr>
        </p:nvSpPr>
        <p:spPr>
          <a:xfrm>
            <a:off x="1564982" y="4037012"/>
            <a:ext cx="1780674" cy="1106488"/>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SzPts val="770"/>
              <a:buNone/>
            </a:pPr>
            <a:r>
              <a:rPr lang="fr" sz="1200" b="1" i="1" dirty="0">
                <a:solidFill>
                  <a:schemeClr val="tx1"/>
                </a:solidFill>
                <a:latin typeface="Montserrat"/>
                <a:ea typeface="Montserrat"/>
                <a:cs typeface="Montserrat"/>
                <a:sym typeface="Montserrat"/>
              </a:rPr>
              <a:t>Evolution quantité expédiées: 27%</a:t>
            </a:r>
            <a:endParaRPr sz="1200" b="1" i="1" dirty="0">
              <a:solidFill>
                <a:schemeClr val="tx1"/>
              </a:solidFill>
              <a:latin typeface="Montserrat"/>
              <a:ea typeface="Montserrat"/>
              <a:cs typeface="Montserrat"/>
              <a:sym typeface="Montserrat"/>
            </a:endParaRPr>
          </a:p>
          <a:p>
            <a:pPr marL="0" marR="0" lvl="0" indent="0" algn="l" rtl="0">
              <a:lnSpc>
                <a:spcPct val="115000"/>
              </a:lnSpc>
              <a:spcBef>
                <a:spcPts val="0"/>
              </a:spcBef>
              <a:spcAft>
                <a:spcPts val="0"/>
              </a:spcAft>
              <a:buSzPts val="770"/>
              <a:buNone/>
            </a:pPr>
            <a:endParaRPr sz="1350" i="1" dirty="0">
              <a:solidFill>
                <a:srgbClr val="999999"/>
              </a:solidFill>
              <a:latin typeface="Montserrat"/>
              <a:ea typeface="Montserrat"/>
              <a:cs typeface="Montserrat"/>
              <a:sym typeface="Montserrat"/>
            </a:endParaRPr>
          </a:p>
          <a:p>
            <a:pPr marL="457200" marR="0" lvl="0" indent="0" algn="l" rtl="0">
              <a:lnSpc>
                <a:spcPct val="115000"/>
              </a:lnSpc>
              <a:spcBef>
                <a:spcPts val="0"/>
              </a:spcBef>
              <a:spcAft>
                <a:spcPts val="0"/>
              </a:spcAft>
              <a:buSzPts val="770"/>
              <a:buNone/>
            </a:pPr>
            <a:endParaRPr sz="1350" i="1" dirty="0">
              <a:solidFill>
                <a:srgbClr val="999999"/>
              </a:solidFill>
              <a:latin typeface="Montserrat"/>
              <a:ea typeface="Montserrat"/>
              <a:cs typeface="Montserrat"/>
              <a:sym typeface="Montserrat"/>
            </a:endParaRPr>
          </a:p>
        </p:txBody>
      </p:sp>
      <p:graphicFrame>
        <p:nvGraphicFramePr>
          <p:cNvPr id="4" name="Graphique 3">
            <a:extLst>
              <a:ext uri="{FF2B5EF4-FFF2-40B4-BE49-F238E27FC236}">
                <a16:creationId xmlns:a16="http://schemas.microsoft.com/office/drawing/2014/main" id="{5CAFDD18-9A77-C6A8-44A1-701168C2A3F1}"/>
              </a:ext>
            </a:extLst>
          </p:cNvPr>
          <p:cNvGraphicFramePr>
            <a:graphicFrameLocks/>
          </p:cNvGraphicFramePr>
          <p:nvPr>
            <p:extLst>
              <p:ext uri="{D42A27DB-BD31-4B8C-83A1-F6EECF244321}">
                <p14:modId xmlns:p14="http://schemas.microsoft.com/office/powerpoint/2010/main" val="1651147013"/>
              </p:ext>
            </p:extLst>
          </p:nvPr>
        </p:nvGraphicFramePr>
        <p:xfrm>
          <a:off x="4129238" y="1488616"/>
          <a:ext cx="5207267" cy="3639868"/>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g13f9e8f1567_0_7"/>
          <p:cNvSpPr/>
          <p:nvPr/>
        </p:nvSpPr>
        <p:spPr>
          <a:xfrm>
            <a:off x="0" y="0"/>
            <a:ext cx="9144000" cy="1675031"/>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g13f9e8f1567_0_7"/>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dirty="0">
                <a:solidFill>
                  <a:srgbClr val="F3F3F3"/>
                </a:solidFill>
                <a:latin typeface="Montserrat"/>
                <a:ea typeface="Montserrat"/>
                <a:cs typeface="Montserrat"/>
                <a:sym typeface="Montserrat"/>
              </a:rPr>
              <a:t>L’évolution du nombre de commandes passées</a:t>
            </a:r>
            <a:endParaRPr sz="2500" dirty="0">
              <a:solidFill>
                <a:srgbClr val="F3F3F3"/>
              </a:solidFill>
              <a:latin typeface="Montserrat"/>
              <a:ea typeface="Montserrat"/>
              <a:cs typeface="Montserrat"/>
              <a:sym typeface="Montserrat"/>
            </a:endParaRPr>
          </a:p>
        </p:txBody>
      </p:sp>
      <p:sp>
        <p:nvSpPr>
          <p:cNvPr id="101" name="Google Shape;101;g13f9e8f1567_0_7"/>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Titre 1">
            <a:extLst>
              <a:ext uri="{FF2B5EF4-FFF2-40B4-BE49-F238E27FC236}">
                <a16:creationId xmlns:a16="http://schemas.microsoft.com/office/drawing/2014/main" id="{1239024D-8547-7C87-28DA-82F8143617E8}"/>
              </a:ext>
            </a:extLst>
          </p:cNvPr>
          <p:cNvSpPr>
            <a:spLocks noGrp="1"/>
          </p:cNvSpPr>
          <p:nvPr>
            <p:ph type="title"/>
          </p:nvPr>
        </p:nvSpPr>
        <p:spPr>
          <a:xfrm>
            <a:off x="72995" y="1828800"/>
            <a:ext cx="3931114" cy="3215879"/>
          </a:xfrm>
        </p:spPr>
        <p:txBody>
          <a:bodyPr>
            <a:normAutofit fontScale="90000"/>
          </a:bodyPr>
          <a:lstStyle/>
          <a:p>
            <a:pPr algn="l"/>
            <a:r>
              <a:rPr lang="fr-FR" sz="1600" b="0" i="0" u="none" strike="noStrike" dirty="0">
                <a:solidFill>
                  <a:srgbClr val="000000"/>
                </a:solidFill>
                <a:effectLst/>
                <a:latin typeface="+mn-lt"/>
              </a:rPr>
              <a:t>Une augmentation du nombre de commandes entraîne plus de coûts de passation, davantage de réceptions à gérer et une charge de travail plus élevée pour les équipes. Cela peut aussi générer du surstockage si les commandes sont mal dimensionnées.</a:t>
            </a:r>
            <a:br>
              <a:rPr lang="fr-FR" sz="1600" b="0" i="0" u="none" strike="noStrike" dirty="0">
                <a:solidFill>
                  <a:srgbClr val="000000"/>
                </a:solidFill>
                <a:effectLst/>
                <a:latin typeface="+mn-lt"/>
              </a:rPr>
            </a:br>
            <a:r>
              <a:rPr lang="fr-FR" sz="1600" b="0" i="0" u="none" strike="noStrike" dirty="0">
                <a:solidFill>
                  <a:srgbClr val="000000"/>
                </a:solidFill>
                <a:effectLst/>
                <a:latin typeface="+mn-lt"/>
              </a:rPr>
              <a:t>Le graphique montre toutefois </a:t>
            </a:r>
            <a:r>
              <a:rPr lang="fr-FR" sz="1600" b="1" i="0" u="none" strike="noStrike" dirty="0">
                <a:solidFill>
                  <a:srgbClr val="000000"/>
                </a:solidFill>
                <a:effectLst/>
                <a:latin typeface="+mn-lt"/>
              </a:rPr>
              <a:t>une baisse progressive du nombre de commandes</a:t>
            </a:r>
            <a:r>
              <a:rPr lang="fr-FR" sz="1600" b="0" i="0" u="none" strike="noStrike" dirty="0">
                <a:solidFill>
                  <a:srgbClr val="000000"/>
                </a:solidFill>
                <a:effectLst/>
                <a:latin typeface="+mn-lt"/>
              </a:rPr>
              <a:t> sur la période, avec une diminution d’environ </a:t>
            </a:r>
            <a:r>
              <a:rPr lang="fr-FR" sz="1600" b="1" i="0" u="none" strike="noStrike" dirty="0">
                <a:solidFill>
                  <a:srgbClr val="000000"/>
                </a:solidFill>
                <a:effectLst/>
                <a:latin typeface="+mn-lt"/>
              </a:rPr>
              <a:t>–14 %</a:t>
            </a:r>
            <a:r>
              <a:rPr lang="fr-FR" sz="1600" b="0" i="0" u="none" strike="noStrike" dirty="0">
                <a:solidFill>
                  <a:srgbClr val="000000"/>
                </a:solidFill>
                <a:effectLst/>
                <a:latin typeface="+mn-lt"/>
              </a:rPr>
              <a:t> entre le début et la fin. Cette baisse réduit la fréquence des commandes mais augmente souvent les quantités reçues d’un coup, ce qui peut provoquer des réceptions massives et accentuer le surstockage.</a:t>
            </a:r>
            <a:br>
              <a:rPr lang="fr-FR" sz="1000" dirty="0"/>
            </a:br>
            <a:endParaRPr lang="fr-FR" sz="1000" dirty="0"/>
          </a:p>
        </p:txBody>
      </p:sp>
      <p:sp>
        <p:nvSpPr>
          <p:cNvPr id="103" name="Google Shape;103;g13f9e8f1567_0_7"/>
          <p:cNvSpPr txBox="1">
            <a:spLocks noGrp="1"/>
          </p:cNvSpPr>
          <p:nvPr>
            <p:ph type="subTitle" idx="1"/>
          </p:nvPr>
        </p:nvSpPr>
        <p:spPr>
          <a:xfrm>
            <a:off x="3537285" y="4649003"/>
            <a:ext cx="1414914" cy="494498"/>
          </a:xfrm>
          <a:prstGeom prst="rect">
            <a:avLst/>
          </a:prstGeom>
          <a:noFill/>
          <a:ln>
            <a:noFill/>
          </a:ln>
        </p:spPr>
        <p:txBody>
          <a:bodyPr spcFirstLastPara="1" wrap="square" lIns="91425" tIns="91425" rIns="91425" bIns="91425" anchor="t" anchorCtr="0">
            <a:normAutofit fontScale="92500" lnSpcReduction="10000"/>
          </a:bodyPr>
          <a:lstStyle/>
          <a:p>
            <a:pPr marL="0" marR="0" lvl="0" indent="0" algn="l" rtl="0">
              <a:lnSpc>
                <a:spcPct val="115000"/>
              </a:lnSpc>
              <a:spcBef>
                <a:spcPts val="0"/>
              </a:spcBef>
              <a:spcAft>
                <a:spcPts val="0"/>
              </a:spcAft>
              <a:buNone/>
            </a:pPr>
            <a:r>
              <a:rPr lang="fr-FR" i="1" dirty="0">
                <a:solidFill>
                  <a:srgbClr val="999999"/>
                </a:solidFill>
                <a:latin typeface="Montserrat"/>
                <a:ea typeface="Montserrat"/>
                <a:cs typeface="Montserrat"/>
                <a:sym typeface="Montserrat"/>
              </a:rPr>
              <a:t>	</a:t>
            </a:r>
            <a:r>
              <a:rPr lang="fr-FR" sz="1400" b="1" i="1" dirty="0">
                <a:latin typeface="Montserrat"/>
                <a:ea typeface="Montserrat"/>
                <a:cs typeface="Montserrat"/>
                <a:sym typeface="Montserrat"/>
              </a:rPr>
              <a:t>-14%</a:t>
            </a:r>
            <a:endParaRPr sz="1400" b="1" i="1" dirty="0">
              <a:latin typeface="Montserrat"/>
              <a:ea typeface="Montserrat"/>
              <a:cs typeface="Montserrat"/>
              <a:sym typeface="Montserrat"/>
            </a:endParaRPr>
          </a:p>
          <a:p>
            <a:pPr marL="457200" marR="0" lvl="0" indent="0" algn="l" rtl="0">
              <a:lnSpc>
                <a:spcPct val="115000"/>
              </a:lnSpc>
              <a:spcBef>
                <a:spcPts val="0"/>
              </a:spcBef>
              <a:spcAft>
                <a:spcPts val="0"/>
              </a:spcAft>
              <a:buNone/>
            </a:pPr>
            <a:endParaRPr i="1" dirty="0">
              <a:solidFill>
                <a:srgbClr val="999999"/>
              </a:solidFill>
              <a:latin typeface="Montserrat"/>
              <a:ea typeface="Montserrat"/>
              <a:cs typeface="Montserrat"/>
              <a:sym typeface="Montserrat"/>
            </a:endParaRPr>
          </a:p>
        </p:txBody>
      </p:sp>
      <p:sp>
        <p:nvSpPr>
          <p:cNvPr id="102" name="Google Shape;102;g13f9e8f1567_0_7"/>
          <p:cNvSpPr txBox="1">
            <a:spLocks noGrp="1"/>
          </p:cNvSpPr>
          <p:nvPr>
            <p:ph type="body" idx="2"/>
          </p:nvPr>
        </p:nvSpPr>
        <p:spPr>
          <a:xfrm>
            <a:off x="4899259" y="1675030"/>
            <a:ext cx="4244741" cy="346847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0"/>
              </a:spcAft>
              <a:buNone/>
            </a:pPr>
            <a:endParaRPr i="1" dirty="0">
              <a:solidFill>
                <a:srgbClr val="999999"/>
              </a:solidFill>
              <a:latin typeface="Montserrat"/>
              <a:ea typeface="Montserrat"/>
              <a:cs typeface="Montserrat"/>
              <a:sym typeface="Montserrat"/>
            </a:endParaRPr>
          </a:p>
          <a:p>
            <a:pPr marL="457200" marR="0" lvl="0" indent="0" algn="l" rtl="0">
              <a:lnSpc>
                <a:spcPct val="115000"/>
              </a:lnSpc>
              <a:spcBef>
                <a:spcPts val="0"/>
              </a:spcBef>
              <a:spcAft>
                <a:spcPts val="0"/>
              </a:spcAft>
              <a:buNone/>
            </a:pPr>
            <a:endParaRPr i="1" dirty="0">
              <a:solidFill>
                <a:srgbClr val="999999"/>
              </a:solidFill>
              <a:latin typeface="Montserrat"/>
              <a:ea typeface="Montserrat"/>
              <a:cs typeface="Montserrat"/>
              <a:sym typeface="Montserrat"/>
            </a:endParaRPr>
          </a:p>
        </p:txBody>
      </p:sp>
      <p:graphicFrame>
        <p:nvGraphicFramePr>
          <p:cNvPr id="6" name="Graphique 5">
            <a:extLst>
              <a:ext uri="{FF2B5EF4-FFF2-40B4-BE49-F238E27FC236}">
                <a16:creationId xmlns:a16="http://schemas.microsoft.com/office/drawing/2014/main" id="{3A00491A-C5C9-C94D-CB25-B524870A1369}"/>
              </a:ext>
            </a:extLst>
          </p:cNvPr>
          <p:cNvGraphicFramePr>
            <a:graphicFrameLocks/>
          </p:cNvGraphicFramePr>
          <p:nvPr>
            <p:extLst>
              <p:ext uri="{D42A27DB-BD31-4B8C-83A1-F6EECF244321}">
                <p14:modId xmlns:p14="http://schemas.microsoft.com/office/powerpoint/2010/main" val="3770572672"/>
              </p:ext>
            </p:extLst>
          </p:nvPr>
        </p:nvGraphicFramePr>
        <p:xfrm>
          <a:off x="5216892" y="1653832"/>
          <a:ext cx="4023359" cy="3489668"/>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g1644a70ef9a_0_0"/>
          <p:cNvSpPr/>
          <p:nvPr/>
        </p:nvSpPr>
        <p:spPr>
          <a:xfrm>
            <a:off x="-53743" y="-100728"/>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g1644a70ef9a_0_0"/>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85000" lnSpcReduction="10000"/>
          </a:bodyPr>
          <a:lstStyle/>
          <a:p>
            <a:pPr marL="0" marR="0" lvl="0" indent="0" algn="l" rtl="0">
              <a:lnSpc>
                <a:spcPct val="100000"/>
              </a:lnSpc>
              <a:spcBef>
                <a:spcPts val="0"/>
              </a:spcBef>
              <a:spcAft>
                <a:spcPts val="0"/>
              </a:spcAft>
              <a:buClr>
                <a:srgbClr val="000000"/>
              </a:buClr>
              <a:buSzPct val="100000"/>
              <a:buFont typeface="Arial"/>
              <a:buNone/>
            </a:pPr>
            <a:r>
              <a:rPr lang="fr" sz="2500">
                <a:solidFill>
                  <a:srgbClr val="F3F3F3"/>
                </a:solidFill>
                <a:latin typeface="Montserrat"/>
                <a:ea typeface="Montserrat"/>
                <a:cs typeface="Montserrat"/>
                <a:sym typeface="Montserrat"/>
              </a:rPr>
              <a:t>L’évolution du taux de service en quantité des fournisseurs</a:t>
            </a:r>
            <a:endParaRPr sz="2500">
              <a:solidFill>
                <a:srgbClr val="F3F3F3"/>
              </a:solidFill>
              <a:latin typeface="Montserrat"/>
              <a:ea typeface="Montserrat"/>
              <a:cs typeface="Montserrat"/>
              <a:sym typeface="Montserrat"/>
            </a:endParaRPr>
          </a:p>
        </p:txBody>
      </p:sp>
      <p:sp>
        <p:nvSpPr>
          <p:cNvPr id="12" name="Titre 11">
            <a:extLst>
              <a:ext uri="{FF2B5EF4-FFF2-40B4-BE49-F238E27FC236}">
                <a16:creationId xmlns:a16="http://schemas.microsoft.com/office/drawing/2014/main" id="{19963464-2949-B853-0F81-43C178C6005C}"/>
              </a:ext>
            </a:extLst>
          </p:cNvPr>
          <p:cNvSpPr>
            <a:spLocks noGrp="1"/>
          </p:cNvSpPr>
          <p:nvPr>
            <p:ph type="title"/>
          </p:nvPr>
        </p:nvSpPr>
        <p:spPr>
          <a:xfrm>
            <a:off x="155819" y="2267983"/>
            <a:ext cx="4362438" cy="1926231"/>
          </a:xfrm>
        </p:spPr>
        <p:txBody>
          <a:bodyPr>
            <a:noAutofit/>
          </a:bodyPr>
          <a:lstStyle/>
          <a:p>
            <a:r>
              <a:rPr lang="fr-FR" sz="1400" dirty="0">
                <a:latin typeface="+mn-lt"/>
              </a:rPr>
              <a:t>Le taux de service est globalement excellent sur toute la période analysée, oscillant entre </a:t>
            </a:r>
            <a:r>
              <a:rPr lang="fr-FR" sz="1400" b="1" dirty="0">
                <a:latin typeface="+mn-lt"/>
              </a:rPr>
              <a:t>95 % et 100 %</a:t>
            </a:r>
            <a:r>
              <a:rPr lang="fr-FR" sz="1400" dirty="0">
                <a:latin typeface="+mn-lt"/>
              </a:rPr>
              <a:t>.</a:t>
            </a:r>
            <a:br>
              <a:rPr lang="fr-FR" sz="1400" dirty="0">
                <a:latin typeface="+mn-lt"/>
              </a:rPr>
            </a:br>
            <a:r>
              <a:rPr lang="fr-FR" sz="1400" dirty="0">
                <a:latin typeface="+mn-lt"/>
              </a:rPr>
              <a:t>Les légères baisses observées en juin-juillet traduisent probablement un retard ponctuel ou un pic de demande.</a:t>
            </a:r>
            <a:br>
              <a:rPr lang="fr-FR" sz="1400" dirty="0">
                <a:latin typeface="+mn-lt"/>
              </a:rPr>
            </a:br>
            <a:r>
              <a:rPr lang="fr-FR" sz="1400" dirty="0">
                <a:latin typeface="+mn-lt"/>
              </a:rPr>
              <a:t>La période d’octobre à novembre montre au contraire un </a:t>
            </a:r>
            <a:r>
              <a:rPr lang="fr-FR" sz="1400" b="1" dirty="0">
                <a:latin typeface="+mn-lt"/>
              </a:rPr>
              <a:t>retour à la normale</a:t>
            </a:r>
            <a:r>
              <a:rPr lang="fr-FR" sz="1400" dirty="0">
                <a:latin typeface="+mn-lt"/>
              </a:rPr>
              <a:t> avec même une amélioration des performances</a:t>
            </a:r>
            <a:br>
              <a:rPr lang="fr-FR" sz="1400" dirty="0">
                <a:latin typeface="+mn-lt"/>
              </a:rPr>
            </a:br>
            <a:endParaRPr lang="fr-FR" sz="1400" dirty="0">
              <a:latin typeface="+mn-lt"/>
            </a:endParaRPr>
          </a:p>
        </p:txBody>
      </p:sp>
      <p:sp>
        <p:nvSpPr>
          <p:cNvPr id="13" name="Sous-titre 12">
            <a:extLst>
              <a:ext uri="{FF2B5EF4-FFF2-40B4-BE49-F238E27FC236}">
                <a16:creationId xmlns:a16="http://schemas.microsoft.com/office/drawing/2014/main" id="{D060C1A8-4A6D-4587-494D-D6714909F376}"/>
              </a:ext>
            </a:extLst>
          </p:cNvPr>
          <p:cNvSpPr>
            <a:spLocks noGrp="1"/>
          </p:cNvSpPr>
          <p:nvPr>
            <p:ph type="subTitle" idx="1"/>
          </p:nvPr>
        </p:nvSpPr>
        <p:spPr>
          <a:xfrm>
            <a:off x="3301465" y="4419174"/>
            <a:ext cx="1192824" cy="724326"/>
          </a:xfrm>
        </p:spPr>
        <p:txBody>
          <a:bodyPr>
            <a:normAutofit fontScale="77500" lnSpcReduction="20000"/>
          </a:bodyPr>
          <a:lstStyle/>
          <a:p>
            <a:r>
              <a:rPr lang="fr-FR" b="1" dirty="0"/>
              <a:t>Ecart Total:</a:t>
            </a:r>
          </a:p>
          <a:p>
            <a:r>
              <a:rPr lang="fr-FR" b="1" dirty="0"/>
              <a:t>5 points</a:t>
            </a:r>
          </a:p>
        </p:txBody>
      </p:sp>
      <p:sp>
        <p:nvSpPr>
          <p:cNvPr id="111" name="Google Shape;111;g1644a70ef9a_0_0"/>
          <p:cNvSpPr txBox="1">
            <a:spLocks noGrp="1"/>
          </p:cNvSpPr>
          <p:nvPr>
            <p:ph type="body" idx="2"/>
          </p:nvPr>
        </p:nvSpPr>
        <p:spPr>
          <a:xfrm>
            <a:off x="4833302" y="1318699"/>
            <a:ext cx="3943198" cy="3100475"/>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0"/>
              </a:spcAft>
              <a:buNone/>
            </a:pPr>
            <a:endParaRPr lang="fr-FR" i="1" dirty="0">
              <a:solidFill>
                <a:srgbClr val="999999"/>
              </a:solidFill>
              <a:latin typeface="Montserrat"/>
              <a:ea typeface="Montserrat"/>
              <a:cs typeface="Montserrat"/>
              <a:sym typeface="Montserrat"/>
            </a:endParaRPr>
          </a:p>
          <a:p>
            <a:pPr marL="457200" marR="0" lvl="0" indent="0" algn="l" rtl="0">
              <a:lnSpc>
                <a:spcPct val="115000"/>
              </a:lnSpc>
              <a:spcBef>
                <a:spcPts val="0"/>
              </a:spcBef>
              <a:spcAft>
                <a:spcPts val="0"/>
              </a:spcAft>
              <a:buNone/>
            </a:pPr>
            <a:r>
              <a:rPr lang="fr-FR" i="1" dirty="0">
                <a:solidFill>
                  <a:srgbClr val="999999"/>
                </a:solidFill>
                <a:latin typeface="Montserrat"/>
                <a:ea typeface="Montserrat"/>
                <a:cs typeface="Montserrat"/>
                <a:sym typeface="Montserrat"/>
              </a:rPr>
              <a:t> </a:t>
            </a:r>
          </a:p>
        </p:txBody>
      </p:sp>
      <p:graphicFrame>
        <p:nvGraphicFramePr>
          <p:cNvPr id="14" name="Graphique 13">
            <a:extLst>
              <a:ext uri="{FF2B5EF4-FFF2-40B4-BE49-F238E27FC236}">
                <a16:creationId xmlns:a16="http://schemas.microsoft.com/office/drawing/2014/main" id="{B1E12E03-CB30-BB9F-4ECC-8C7728509112}"/>
              </a:ext>
            </a:extLst>
          </p:cNvPr>
          <p:cNvGraphicFramePr>
            <a:graphicFrameLocks/>
          </p:cNvGraphicFramePr>
          <p:nvPr>
            <p:extLst>
              <p:ext uri="{D42A27DB-BD31-4B8C-83A1-F6EECF244321}">
                <p14:modId xmlns:p14="http://schemas.microsoft.com/office/powerpoint/2010/main" val="2702578383"/>
              </p:ext>
            </p:extLst>
          </p:nvPr>
        </p:nvGraphicFramePr>
        <p:xfrm>
          <a:off x="4677878" y="1318698"/>
          <a:ext cx="4466122" cy="3824802"/>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1644a70ef9a_0_27"/>
          <p:cNvSpPr/>
          <p:nvPr/>
        </p:nvSpPr>
        <p:spPr>
          <a:xfrm>
            <a:off x="15243"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g1644a70ef9a_0_27"/>
          <p:cNvSpPr txBox="1"/>
          <p:nvPr/>
        </p:nvSpPr>
        <p:spPr>
          <a:xfrm>
            <a:off x="481638" y="601880"/>
            <a:ext cx="8520600" cy="572700"/>
          </a:xfrm>
          <a:prstGeom prst="rect">
            <a:avLst/>
          </a:prstGeom>
          <a:noFill/>
          <a:ln>
            <a:noFill/>
          </a:ln>
        </p:spPr>
        <p:txBody>
          <a:bodyPr spcFirstLastPara="1" wrap="square" lIns="91425" tIns="91425" rIns="91425" bIns="91425" anchor="t" anchorCtr="0">
            <a:normAutofit fontScale="62500" lnSpcReduction="20000"/>
          </a:bodyPr>
          <a:lstStyle/>
          <a:p>
            <a:pPr marL="0" marR="0" lvl="0" indent="0" algn="l" rtl="0">
              <a:lnSpc>
                <a:spcPct val="100000"/>
              </a:lnSpc>
              <a:spcBef>
                <a:spcPts val="0"/>
              </a:spcBef>
              <a:spcAft>
                <a:spcPts val="0"/>
              </a:spcAft>
              <a:buClr>
                <a:srgbClr val="000000"/>
              </a:buClr>
              <a:buSzPct val="100000"/>
              <a:buFont typeface="Arial"/>
              <a:buNone/>
            </a:pPr>
            <a:r>
              <a:rPr lang="fr" sz="2500" dirty="0">
                <a:solidFill>
                  <a:srgbClr val="F3F3F3"/>
                </a:solidFill>
                <a:latin typeface="Montserrat"/>
                <a:ea typeface="Montserrat"/>
                <a:cs typeface="Montserrat"/>
                <a:sym typeface="Montserrat"/>
              </a:rPr>
              <a:t>Top 3 des familles de produits avec la plus importante évolution de stock en UVC</a:t>
            </a:r>
            <a:endParaRPr sz="2500" dirty="0">
              <a:solidFill>
                <a:srgbClr val="F3F3F3"/>
              </a:solidFill>
              <a:latin typeface="Montserrat"/>
              <a:ea typeface="Montserrat"/>
              <a:cs typeface="Montserrat"/>
              <a:sym typeface="Montserrat"/>
            </a:endParaRPr>
          </a:p>
        </p:txBody>
      </p:sp>
      <p:sp>
        <p:nvSpPr>
          <p:cNvPr id="119" name="Google Shape;119;g1644a70ef9a_0_27"/>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g1644a70ef9a_0_27"/>
          <p:cNvSpPr txBox="1">
            <a:spLocks noGrp="1"/>
          </p:cNvSpPr>
          <p:nvPr>
            <p:ph type="body" idx="2"/>
          </p:nvPr>
        </p:nvSpPr>
        <p:spPr>
          <a:xfrm>
            <a:off x="4959820" y="1684421"/>
            <a:ext cx="4184179" cy="2993457"/>
          </a:xfrm>
          <a:prstGeom prst="rect">
            <a:avLst/>
          </a:prstGeom>
          <a:noFill/>
          <a:ln>
            <a:noFill/>
          </a:ln>
        </p:spPr>
        <p:txBody>
          <a:bodyPr spcFirstLastPara="1" wrap="square" lIns="91425" tIns="91425" rIns="91425" bIns="91425" anchor="t" anchorCtr="0">
            <a:noAutofit/>
          </a:bodyPr>
          <a:lstStyle/>
          <a:p>
            <a:pPr marL="0" indent="457200" algn="ctr">
              <a:buNone/>
            </a:pPr>
            <a:r>
              <a:rPr lang="fr-FR" sz="1400" dirty="0">
                <a:solidFill>
                  <a:schemeClr val="tx1"/>
                </a:solidFill>
              </a:rPr>
              <a:t>Les surstocks observés sur les familles </a:t>
            </a:r>
            <a:r>
              <a:rPr lang="fr-FR" sz="1400" u="sng" dirty="0">
                <a:solidFill>
                  <a:schemeClr val="tx1"/>
                </a:solidFill>
              </a:rPr>
              <a:t>Boulangerie (</a:t>
            </a:r>
            <a:r>
              <a:rPr lang="fr-FR" sz="1400" dirty="0"/>
              <a:t>+1003 %)</a:t>
            </a:r>
            <a:r>
              <a:rPr lang="fr-FR" sz="1400" u="sng" dirty="0">
                <a:solidFill>
                  <a:schemeClr val="tx1"/>
                </a:solidFill>
              </a:rPr>
              <a:t>,Emballages(</a:t>
            </a:r>
            <a:r>
              <a:rPr lang="fr-FR" sz="1400" dirty="0"/>
              <a:t>+161 %)</a:t>
            </a:r>
            <a:r>
              <a:rPr lang="fr-FR" sz="1400" dirty="0">
                <a:solidFill>
                  <a:schemeClr val="tx1"/>
                </a:solidFill>
              </a:rPr>
              <a:t> et </a:t>
            </a:r>
            <a:r>
              <a:rPr lang="fr-FR" sz="1400" u="sng" dirty="0">
                <a:solidFill>
                  <a:schemeClr val="tx1"/>
                </a:solidFill>
              </a:rPr>
              <a:t>Crèmerie</a:t>
            </a:r>
            <a:r>
              <a:rPr lang="fr-FR" sz="1400" dirty="0">
                <a:solidFill>
                  <a:schemeClr val="tx1"/>
                </a:solidFill>
              </a:rPr>
              <a:t> (</a:t>
            </a:r>
            <a:r>
              <a:rPr lang="fr-FR" sz="1400" dirty="0"/>
              <a:t>+80 %) </a:t>
            </a:r>
            <a:r>
              <a:rPr lang="fr-FR" sz="1400" dirty="0">
                <a:solidFill>
                  <a:schemeClr val="tx1"/>
                </a:solidFill>
              </a:rPr>
              <a:t>sont principalement liés à des sur-réceptions provenant des fournisseurs, créant un décalage entre les volumes commandés, réceptionnés et expédiés. </a:t>
            </a:r>
          </a:p>
          <a:p>
            <a:pPr marL="0" indent="457200" algn="ctr">
              <a:buNone/>
            </a:pPr>
            <a:r>
              <a:rPr lang="fr-FR" sz="1400" dirty="0">
                <a:solidFill>
                  <a:schemeClr val="tx1"/>
                </a:solidFill>
              </a:rPr>
              <a:t>Cela perturbe le pilotage des stocks et augmente les coûts logistiques. Une sécurisation du processus de réception, un contrôle strict des livraisons  et une révision de la politique d’approvisionnement sont essentiels pour retrouver une maîtrise opérationnelle.</a:t>
            </a:r>
            <a:endParaRPr sz="1400" i="1" dirty="0">
              <a:solidFill>
                <a:schemeClr val="tx1"/>
              </a:solidFill>
              <a:ea typeface="Montserrat"/>
              <a:cs typeface="Montserrat"/>
              <a:sym typeface="Montserrat"/>
            </a:endParaRPr>
          </a:p>
        </p:txBody>
      </p:sp>
      <p:graphicFrame>
        <p:nvGraphicFramePr>
          <p:cNvPr id="3" name="Graphique 2">
            <a:extLst>
              <a:ext uri="{FF2B5EF4-FFF2-40B4-BE49-F238E27FC236}">
                <a16:creationId xmlns:a16="http://schemas.microsoft.com/office/drawing/2014/main" id="{E6E37CD8-E2B7-A601-7AB8-C12127AF452B}"/>
              </a:ext>
            </a:extLst>
          </p:cNvPr>
          <p:cNvGraphicFramePr>
            <a:graphicFrameLocks/>
          </p:cNvGraphicFramePr>
          <p:nvPr>
            <p:extLst>
              <p:ext uri="{D42A27DB-BD31-4B8C-83A1-F6EECF244321}">
                <p14:modId xmlns:p14="http://schemas.microsoft.com/office/powerpoint/2010/main" val="395443655"/>
              </p:ext>
            </p:extLst>
          </p:nvPr>
        </p:nvGraphicFramePr>
        <p:xfrm>
          <a:off x="86627" y="1435220"/>
          <a:ext cx="4966636" cy="3709253"/>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6398</TotalTime>
  <Words>581</Words>
  <Application>Microsoft Macintosh PowerPoint</Application>
  <PresentationFormat>Affichage à l'écran (16:9)</PresentationFormat>
  <Paragraphs>37</Paragraphs>
  <Slides>8</Slides>
  <Notes>8</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8</vt:i4>
      </vt:variant>
    </vt:vector>
  </HeadingPairs>
  <TitlesOfParts>
    <vt:vector size="13" baseType="lpstr">
      <vt:lpstr>Calibri</vt:lpstr>
      <vt:lpstr>Calibri Light</vt:lpstr>
      <vt:lpstr>Arial</vt:lpstr>
      <vt:lpstr>Montserrat</vt:lpstr>
      <vt:lpstr>Thème Office</vt:lpstr>
      <vt:lpstr>Présentation PowerPoint</vt:lpstr>
      <vt:lpstr>Le stock moyen évolue de façon irrégulière au cours de la période, avec une forte hausse sur la fin d’année. Cette augmentation reflète probablement une anticipation de la demande ou un réapprovisionnement renforcé pour sécuriser les consommateurs.</vt:lpstr>
      <vt:lpstr>L’analyse montre que le prix moyen UVC a globalement diminué sur la période étudiée, passant d’environ 30,18 € au premier mois à 27,33 € au dernier mois. Cela représente une baisse de –10 %. Même si le prix UVC baisse, on observe parallèlement que la valeur du stock a augmenté dans d’autres analyses</vt:lpstr>
      <vt:lpstr>Le nombre de références disponibles chaque mois reste globalement stable, avec une légère baisse d’environ -8 % sur la période. Cette diminution peut refléter des ruptures ponctuelles ou l’ajustement de l’assortiment pour optimiser l’approvisionnement en restauration rapide.</vt:lpstr>
      <vt:lpstr>Le graphique montre une forte chute des expéditions en juillet, suivie d’une remontée rapide et durable dès août. Sur l’ensemble de la période, les expéditions restent régulièrement supérieures aux réceptions, ce qui provoque un déstockage continu. Cette situation indique que l’entreprise s’appuie sur un stock existant pour absorber les variations d’activité.  </vt:lpstr>
      <vt:lpstr>Une augmentation du nombre de commandes entraîne plus de coûts de passation, davantage de réceptions à gérer et une charge de travail plus élevée pour les équipes. Cela peut aussi générer du surstockage si les commandes sont mal dimensionnées. Le graphique montre toutefois une baisse progressive du nombre de commandes sur la période, avec une diminution d’environ –14 % entre le début et la fin. Cette baisse réduit la fréquence des commandes mais augmente souvent les quantités reçues d’un coup, ce qui peut provoquer des réceptions massives et accentuer le surstockage. </vt:lpstr>
      <vt:lpstr>Le taux de service est globalement excellent sur toute la période analysée, oscillant entre 95 % et 100 %. Les légères baisses observées en juin-juillet traduisent probablement un retard ponctuel ou un pic de demande. La période d’octobre à novembre montre au contraire un retour à la normale avec même une amélioration des performances </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manalekarroumi8@gmail.com</cp:lastModifiedBy>
  <cp:revision>30</cp:revision>
  <dcterms:modified xsi:type="dcterms:W3CDTF">2025-12-07T01:18:15Z</dcterms:modified>
</cp:coreProperties>
</file>